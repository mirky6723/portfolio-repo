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Open Sauce" charset="1" panose="00000500000000000000"/>
      <p:regular r:id="rId18"/>
    </p:embeddedFont>
    <p:embeddedFont>
      <p:font typeface="TT Commons Pro" charset="1" panose="020B0103030102020204"/>
      <p:regular r:id="rId19"/>
    </p:embeddedFont>
    <p:embeddedFont>
      <p:font typeface="Open Sauce Bold" charset="1" panose="00000800000000000000"/>
      <p:regular r:id="rId20"/>
    </p:embeddedFont>
    <p:embeddedFont>
      <p:font typeface="TT Commons Pro Bold" charset="1" panose="020B0103030102020204"/>
      <p:regular r:id="rId21"/>
    </p:embeddedFont>
    <p:embeddedFont>
      <p:font typeface="DM Sans Italics" charset="1" panose="00000000000000000000"/>
      <p:regular r:id="rId22"/>
    </p:embeddedFont>
    <p:embeddedFont>
      <p:font typeface="Canva Sans Bold" charset="1" panose="020B0803030501040103"/>
      <p:regular r:id="rId23"/>
    </p:embeddedFont>
    <p:embeddedFont>
      <p:font typeface="Canva Sans" charset="1" panose="020B0503030501040103"/>
      <p:regular r:id="rId24"/>
    </p:embeddedFont>
    <p:embeddedFont>
      <p:font typeface="DM Sans Bold Italics" charset="1" panose="0000000000000000000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9.jpe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Relationship Id="rId5" Target="../media/image22.png" Type="http://schemas.openxmlformats.org/officeDocument/2006/relationships/image"/><Relationship Id="rId6" Target="../media/image23.png" Type="http://schemas.openxmlformats.org/officeDocument/2006/relationships/image"/><Relationship Id="rId7" Target="../media/image24.png" Type="http://schemas.openxmlformats.org/officeDocument/2006/relationships/image"/><Relationship Id="rId8" Target="../media/image25.png" Type="http://schemas.openxmlformats.org/officeDocument/2006/relationships/image"/><Relationship Id="rId9" Target="../media/image26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1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13130" y="-375629"/>
            <a:ext cx="19705935" cy="11396222"/>
            <a:chOff x="0" y="0"/>
            <a:chExt cx="26274580" cy="15194962"/>
          </a:xfrm>
        </p:grpSpPr>
        <p:sp>
          <p:nvSpPr>
            <p:cNvPr name="AutoShape 3" id="3"/>
            <p:cNvSpPr/>
            <p:nvPr/>
          </p:nvSpPr>
          <p:spPr>
            <a:xfrm flipH="true" flipV="true">
              <a:off x="2143320" y="0"/>
              <a:ext cx="0" cy="15194962"/>
            </a:xfrm>
            <a:prstGeom prst="line">
              <a:avLst/>
            </a:prstGeom>
            <a:ln cap="flat" w="12700">
              <a:solidFill>
                <a:srgbClr val="FFFFFF">
                  <a:alpha val="4706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" id="4"/>
            <p:cNvSpPr/>
            <p:nvPr/>
          </p:nvSpPr>
          <p:spPr>
            <a:xfrm flipH="true">
              <a:off x="0" y="3862444"/>
              <a:ext cx="26274580" cy="0"/>
            </a:xfrm>
            <a:prstGeom prst="line">
              <a:avLst/>
            </a:prstGeom>
            <a:ln cap="flat" w="12700">
              <a:solidFill>
                <a:srgbClr val="FFFFFF">
                  <a:alpha val="4706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" id="5"/>
            <p:cNvSpPr/>
            <p:nvPr/>
          </p:nvSpPr>
          <p:spPr>
            <a:xfrm flipH="true" flipV="true">
              <a:off x="9352687" y="0"/>
              <a:ext cx="0" cy="15194962"/>
            </a:xfrm>
            <a:prstGeom prst="line">
              <a:avLst/>
            </a:prstGeom>
            <a:ln cap="flat" w="12700">
              <a:solidFill>
                <a:srgbClr val="FFFFFF">
                  <a:alpha val="4706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" id="6"/>
            <p:cNvSpPr/>
            <p:nvPr/>
          </p:nvSpPr>
          <p:spPr>
            <a:xfrm flipH="true" flipV="true">
              <a:off x="23771420" y="0"/>
              <a:ext cx="0" cy="15194962"/>
            </a:xfrm>
            <a:prstGeom prst="line">
              <a:avLst/>
            </a:prstGeom>
            <a:ln cap="flat" w="12700">
              <a:solidFill>
                <a:srgbClr val="FFFFFF">
                  <a:alpha val="4706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" id="7"/>
            <p:cNvSpPr/>
            <p:nvPr/>
          </p:nvSpPr>
          <p:spPr>
            <a:xfrm flipH="true" flipV="true">
              <a:off x="16562053" y="0"/>
              <a:ext cx="0" cy="15194962"/>
            </a:xfrm>
            <a:prstGeom prst="line">
              <a:avLst/>
            </a:prstGeom>
            <a:ln cap="flat" w="12700">
              <a:solidFill>
                <a:srgbClr val="FFFFFF">
                  <a:alpha val="4706"/>
                </a:srgbClr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8" id="8"/>
          <p:cNvGrpSpPr/>
          <p:nvPr/>
        </p:nvGrpSpPr>
        <p:grpSpPr>
          <a:xfrm rot="5400000">
            <a:off x="7571123" y="-10005917"/>
            <a:ext cx="3145753" cy="21342304"/>
            <a:chOff x="0" y="0"/>
            <a:chExt cx="828511" cy="562101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28511" cy="5621018"/>
            </a:xfrm>
            <a:custGeom>
              <a:avLst/>
              <a:gdLst/>
              <a:ahLst/>
              <a:cxnLst/>
              <a:rect r="r" b="b" t="t" l="l"/>
              <a:pathLst>
                <a:path h="5621018" w="828511">
                  <a:moveTo>
                    <a:pt x="0" y="0"/>
                  </a:moveTo>
                  <a:lnTo>
                    <a:pt x="828511" y="0"/>
                  </a:lnTo>
                  <a:lnTo>
                    <a:pt x="828511" y="5621018"/>
                  </a:lnTo>
                  <a:lnTo>
                    <a:pt x="0" y="5621018"/>
                  </a:lnTo>
                  <a:close/>
                </a:path>
              </a:pathLst>
            </a:custGeom>
            <a:gradFill rotWithShape="true">
              <a:gsLst>
                <a:gs pos="0">
                  <a:srgbClr val="852531">
                    <a:alpha val="100000"/>
                  </a:srgbClr>
                </a:gs>
                <a:gs pos="50000">
                  <a:srgbClr val="852531">
                    <a:alpha val="49500"/>
                  </a:srgbClr>
                </a:gs>
                <a:gs pos="100000">
                  <a:srgbClr val="85253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828511" cy="56591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5400000">
            <a:off x="7317059" y="-795323"/>
            <a:ext cx="3653882" cy="21342304"/>
            <a:chOff x="0" y="0"/>
            <a:chExt cx="962339" cy="562101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62339" cy="5621018"/>
            </a:xfrm>
            <a:custGeom>
              <a:avLst/>
              <a:gdLst/>
              <a:ahLst/>
              <a:cxnLst/>
              <a:rect r="r" b="b" t="t" l="l"/>
              <a:pathLst>
                <a:path h="5621018" w="962339">
                  <a:moveTo>
                    <a:pt x="0" y="0"/>
                  </a:moveTo>
                  <a:lnTo>
                    <a:pt x="962339" y="0"/>
                  </a:lnTo>
                  <a:lnTo>
                    <a:pt x="962339" y="5621018"/>
                  </a:lnTo>
                  <a:lnTo>
                    <a:pt x="0" y="5621018"/>
                  </a:lnTo>
                  <a:close/>
                </a:path>
              </a:pathLst>
            </a:custGeom>
            <a:gradFill rotWithShape="true">
              <a:gsLst>
                <a:gs pos="0">
                  <a:srgbClr val="852531">
                    <a:alpha val="100000"/>
                  </a:srgbClr>
                </a:gs>
                <a:gs pos="50000">
                  <a:srgbClr val="852531">
                    <a:alpha val="49500"/>
                  </a:srgbClr>
                </a:gs>
                <a:gs pos="100000">
                  <a:srgbClr val="85253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962339" cy="56591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4" id="14"/>
          <p:cNvSpPr/>
          <p:nvPr/>
        </p:nvSpPr>
        <p:spPr>
          <a:xfrm>
            <a:off x="1028700" y="1166139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5" id="15"/>
          <p:cNvGrpSpPr/>
          <p:nvPr/>
        </p:nvGrpSpPr>
        <p:grpSpPr>
          <a:xfrm rot="0">
            <a:off x="11230404" y="1949813"/>
            <a:ext cx="6028896" cy="7308487"/>
            <a:chOff x="0" y="0"/>
            <a:chExt cx="934034" cy="113227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34034" cy="1132276"/>
            </a:xfrm>
            <a:custGeom>
              <a:avLst/>
              <a:gdLst/>
              <a:ahLst/>
              <a:cxnLst/>
              <a:rect r="r" b="b" t="t" l="l"/>
              <a:pathLst>
                <a:path h="1132276" w="934034">
                  <a:moveTo>
                    <a:pt x="29535" y="0"/>
                  </a:moveTo>
                  <a:lnTo>
                    <a:pt x="904499" y="0"/>
                  </a:lnTo>
                  <a:cubicBezTo>
                    <a:pt x="920810" y="0"/>
                    <a:pt x="934034" y="13223"/>
                    <a:pt x="934034" y="29535"/>
                  </a:cubicBezTo>
                  <a:lnTo>
                    <a:pt x="934034" y="1102741"/>
                  </a:lnTo>
                  <a:cubicBezTo>
                    <a:pt x="934034" y="1119053"/>
                    <a:pt x="920810" y="1132276"/>
                    <a:pt x="904499" y="1132276"/>
                  </a:cubicBezTo>
                  <a:lnTo>
                    <a:pt x="29535" y="1132276"/>
                  </a:lnTo>
                  <a:cubicBezTo>
                    <a:pt x="13223" y="1132276"/>
                    <a:pt x="0" y="1119053"/>
                    <a:pt x="0" y="1102741"/>
                  </a:cubicBezTo>
                  <a:lnTo>
                    <a:pt x="0" y="29535"/>
                  </a:lnTo>
                  <a:cubicBezTo>
                    <a:pt x="0" y="13223"/>
                    <a:pt x="13223" y="0"/>
                    <a:pt x="29535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8770" r="0" b="-8770"/>
              </a:stretch>
            </a:blipFill>
            <a:ln w="38100" cap="rnd">
              <a:solidFill>
                <a:srgbClr val="FFFFFF"/>
              </a:solidFill>
              <a:prstDash val="solid"/>
              <a:round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1778431" y="8194846"/>
            <a:ext cx="5101120" cy="640392"/>
            <a:chOff x="0" y="0"/>
            <a:chExt cx="1343505" cy="16866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43505" cy="168663"/>
            </a:xfrm>
            <a:custGeom>
              <a:avLst/>
              <a:gdLst/>
              <a:ahLst/>
              <a:cxnLst/>
              <a:rect r="r" b="b" t="t" l="l"/>
              <a:pathLst>
                <a:path h="168663" w="1343505">
                  <a:moveTo>
                    <a:pt x="84331" y="0"/>
                  </a:moveTo>
                  <a:lnTo>
                    <a:pt x="1259174" y="0"/>
                  </a:lnTo>
                  <a:cubicBezTo>
                    <a:pt x="1281540" y="0"/>
                    <a:pt x="1302990" y="8885"/>
                    <a:pt x="1318805" y="24700"/>
                  </a:cubicBezTo>
                  <a:cubicBezTo>
                    <a:pt x="1334620" y="40515"/>
                    <a:pt x="1343505" y="61965"/>
                    <a:pt x="1343505" y="84331"/>
                  </a:cubicBezTo>
                  <a:lnTo>
                    <a:pt x="1343505" y="84331"/>
                  </a:lnTo>
                  <a:cubicBezTo>
                    <a:pt x="1343505" y="106697"/>
                    <a:pt x="1334620" y="128148"/>
                    <a:pt x="1318805" y="143963"/>
                  </a:cubicBezTo>
                  <a:cubicBezTo>
                    <a:pt x="1302990" y="159778"/>
                    <a:pt x="1281540" y="168663"/>
                    <a:pt x="1259174" y="168663"/>
                  </a:cubicBezTo>
                  <a:lnTo>
                    <a:pt x="84331" y="168663"/>
                  </a:lnTo>
                  <a:cubicBezTo>
                    <a:pt x="61965" y="168663"/>
                    <a:pt x="40515" y="159778"/>
                    <a:pt x="24700" y="143963"/>
                  </a:cubicBezTo>
                  <a:cubicBezTo>
                    <a:pt x="8885" y="128148"/>
                    <a:pt x="0" y="106697"/>
                    <a:pt x="0" y="84331"/>
                  </a:cubicBezTo>
                  <a:lnTo>
                    <a:pt x="0" y="84331"/>
                  </a:lnTo>
                  <a:cubicBezTo>
                    <a:pt x="0" y="61965"/>
                    <a:pt x="8885" y="40515"/>
                    <a:pt x="24700" y="24700"/>
                  </a:cubicBezTo>
                  <a:cubicBezTo>
                    <a:pt x="40515" y="8885"/>
                    <a:pt x="61965" y="0"/>
                    <a:pt x="8433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8F8F8">
                    <a:alpha val="50000"/>
                  </a:srgbClr>
                </a:gs>
                <a:gs pos="50000">
                  <a:srgbClr val="F8F8F8">
                    <a:alpha val="35000"/>
                  </a:srgbClr>
                </a:gs>
                <a:gs pos="100000">
                  <a:srgbClr val="F8F8F8">
                    <a:alpha val="50000"/>
                  </a:srgbClr>
                </a:gs>
              </a:gsLst>
              <a:lin ang="0"/>
            </a:gradFill>
            <a:ln w="19050" cap="rnd">
              <a:solidFill>
                <a:srgbClr val="3E1923"/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343505" cy="2067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778431" y="8194846"/>
            <a:ext cx="4019890" cy="640392"/>
            <a:chOff x="0" y="0"/>
            <a:chExt cx="1058736" cy="16866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58736" cy="168663"/>
            </a:xfrm>
            <a:custGeom>
              <a:avLst/>
              <a:gdLst/>
              <a:ahLst/>
              <a:cxnLst/>
              <a:rect r="r" b="b" t="t" l="l"/>
              <a:pathLst>
                <a:path h="168663" w="1058736">
                  <a:moveTo>
                    <a:pt x="84331" y="0"/>
                  </a:moveTo>
                  <a:lnTo>
                    <a:pt x="974405" y="0"/>
                  </a:lnTo>
                  <a:cubicBezTo>
                    <a:pt x="996771" y="0"/>
                    <a:pt x="1018221" y="8885"/>
                    <a:pt x="1034036" y="24700"/>
                  </a:cubicBezTo>
                  <a:cubicBezTo>
                    <a:pt x="1049852" y="40515"/>
                    <a:pt x="1058736" y="61965"/>
                    <a:pt x="1058736" y="84331"/>
                  </a:cubicBezTo>
                  <a:lnTo>
                    <a:pt x="1058736" y="84331"/>
                  </a:lnTo>
                  <a:cubicBezTo>
                    <a:pt x="1058736" y="106697"/>
                    <a:pt x="1049852" y="128148"/>
                    <a:pt x="1034036" y="143963"/>
                  </a:cubicBezTo>
                  <a:cubicBezTo>
                    <a:pt x="1018221" y="159778"/>
                    <a:pt x="996771" y="168663"/>
                    <a:pt x="974405" y="168663"/>
                  </a:cubicBezTo>
                  <a:lnTo>
                    <a:pt x="84331" y="168663"/>
                  </a:lnTo>
                  <a:cubicBezTo>
                    <a:pt x="61965" y="168663"/>
                    <a:pt x="40515" y="159778"/>
                    <a:pt x="24700" y="143963"/>
                  </a:cubicBezTo>
                  <a:cubicBezTo>
                    <a:pt x="8885" y="128148"/>
                    <a:pt x="0" y="106697"/>
                    <a:pt x="0" y="84331"/>
                  </a:cubicBezTo>
                  <a:lnTo>
                    <a:pt x="0" y="84331"/>
                  </a:lnTo>
                  <a:cubicBezTo>
                    <a:pt x="0" y="61965"/>
                    <a:pt x="8885" y="40515"/>
                    <a:pt x="24700" y="24700"/>
                  </a:cubicBezTo>
                  <a:cubicBezTo>
                    <a:pt x="40515" y="8885"/>
                    <a:pt x="61965" y="0"/>
                    <a:pt x="84331" y="0"/>
                  </a:cubicBezTo>
                  <a:close/>
                </a:path>
              </a:pathLst>
            </a:custGeom>
            <a:solidFill>
              <a:srgbClr val="852531"/>
            </a:solidFill>
            <a:ln w="19050" cap="rnd">
              <a:solidFill>
                <a:srgbClr val="3E1923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058736" cy="2067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9478117" y="7848913"/>
            <a:ext cx="1409387" cy="1409387"/>
          </a:xfrm>
          <a:custGeom>
            <a:avLst/>
            <a:gdLst/>
            <a:ahLst/>
            <a:cxnLst/>
            <a:rect r="r" b="b" t="t" l="l"/>
            <a:pathLst>
              <a:path h="1409387" w="1409387">
                <a:moveTo>
                  <a:pt x="0" y="0"/>
                </a:moveTo>
                <a:lnTo>
                  <a:pt x="1409387" y="0"/>
                </a:lnTo>
                <a:lnTo>
                  <a:pt x="1409387" y="1409387"/>
                </a:lnTo>
                <a:lnTo>
                  <a:pt x="0" y="14093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7792920" y="7741583"/>
            <a:ext cx="1546917" cy="1546917"/>
          </a:xfrm>
          <a:custGeom>
            <a:avLst/>
            <a:gdLst/>
            <a:ahLst/>
            <a:cxnLst/>
            <a:rect r="r" b="b" t="t" l="l"/>
            <a:pathLst>
              <a:path h="1546917" w="1546917">
                <a:moveTo>
                  <a:pt x="0" y="0"/>
                </a:moveTo>
                <a:lnTo>
                  <a:pt x="1546918" y="0"/>
                </a:lnTo>
                <a:lnTo>
                  <a:pt x="1546918" y="1546917"/>
                </a:lnTo>
                <a:lnTo>
                  <a:pt x="0" y="15469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6240658" y="7848913"/>
            <a:ext cx="1409387" cy="1409387"/>
          </a:xfrm>
          <a:custGeom>
            <a:avLst/>
            <a:gdLst/>
            <a:ahLst/>
            <a:cxnLst/>
            <a:rect r="r" b="b" t="t" l="l"/>
            <a:pathLst>
              <a:path h="1409387" w="1409387">
                <a:moveTo>
                  <a:pt x="0" y="0"/>
                </a:moveTo>
                <a:lnTo>
                  <a:pt x="1409387" y="0"/>
                </a:lnTo>
                <a:lnTo>
                  <a:pt x="1409387" y="1409387"/>
                </a:lnTo>
                <a:lnTo>
                  <a:pt x="0" y="140938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028700" y="665366"/>
            <a:ext cx="2571016" cy="363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3"/>
              </a:lnSpc>
            </a:pPr>
            <a:r>
              <a:rPr lang="en-US" sz="2195" spc="-11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Miranda Insights LLC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697560" y="663042"/>
            <a:ext cx="2561740" cy="363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073"/>
              </a:lnSpc>
              <a:spcBef>
                <a:spcPct val="0"/>
              </a:spcBef>
            </a:pPr>
            <a:r>
              <a:rPr lang="en-US" sz="2195" spc="-11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March 2026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27615" y="2071474"/>
            <a:ext cx="10382049" cy="3461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67"/>
              </a:lnSpc>
            </a:pPr>
            <a:r>
              <a:rPr lang="en-US" sz="9853" spc="-59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Student Performance </a:t>
            </a:r>
          </a:p>
          <a:p>
            <a:pPr algn="l" marL="0" indent="0" lvl="0">
              <a:lnSpc>
                <a:spcPts val="8867"/>
              </a:lnSpc>
            </a:pPr>
            <a:r>
              <a:rPr lang="en-US" sz="9853" spc="-59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&amp;  Attendance Analysis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07819" y="8402647"/>
            <a:ext cx="2137673" cy="291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159"/>
              </a:lnSpc>
              <a:spcBef>
                <a:spcPct val="0"/>
              </a:spcBef>
            </a:pPr>
            <a:r>
              <a:rPr lang="en-US" sz="23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Presentor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27615" y="6393137"/>
            <a:ext cx="6764220" cy="1044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 data-driven exploration of student performance and attendance patterns to uncover actionable educational insights.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791499" y="8402647"/>
            <a:ext cx="3106259" cy="291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159"/>
              </a:lnSpc>
              <a:spcBef>
                <a:spcPct val="0"/>
              </a:spcBef>
            </a:pPr>
            <a:r>
              <a:rPr lang="en-US" b="true" sz="239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Kyle Miranda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778431" y="8402647"/>
            <a:ext cx="4019890" cy="291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59"/>
              </a:lnSpc>
              <a:spcBef>
                <a:spcPct val="0"/>
              </a:spcBef>
            </a:pPr>
            <a:r>
              <a:rPr lang="en-US" b="true" sz="239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Click here to proceed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1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13130" y="-375629"/>
            <a:ext cx="19705935" cy="11396222"/>
            <a:chOff x="0" y="0"/>
            <a:chExt cx="26274580" cy="15194962"/>
          </a:xfrm>
        </p:grpSpPr>
        <p:sp>
          <p:nvSpPr>
            <p:cNvPr name="AutoShape 3" id="3"/>
            <p:cNvSpPr/>
            <p:nvPr/>
          </p:nvSpPr>
          <p:spPr>
            <a:xfrm flipH="true" flipV="true">
              <a:off x="2143320" y="0"/>
              <a:ext cx="0" cy="15194962"/>
            </a:xfrm>
            <a:prstGeom prst="line">
              <a:avLst/>
            </a:prstGeom>
            <a:ln cap="flat" w="12700">
              <a:solidFill>
                <a:srgbClr val="FFFFFF">
                  <a:alpha val="4706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" id="4"/>
            <p:cNvSpPr/>
            <p:nvPr/>
          </p:nvSpPr>
          <p:spPr>
            <a:xfrm flipH="true">
              <a:off x="0" y="3862444"/>
              <a:ext cx="26274580" cy="0"/>
            </a:xfrm>
            <a:prstGeom prst="line">
              <a:avLst/>
            </a:prstGeom>
            <a:ln cap="flat" w="12700">
              <a:solidFill>
                <a:srgbClr val="FFFFFF">
                  <a:alpha val="4706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" id="5"/>
            <p:cNvSpPr/>
            <p:nvPr/>
          </p:nvSpPr>
          <p:spPr>
            <a:xfrm flipH="true" flipV="true">
              <a:off x="9352687" y="0"/>
              <a:ext cx="0" cy="15194962"/>
            </a:xfrm>
            <a:prstGeom prst="line">
              <a:avLst/>
            </a:prstGeom>
            <a:ln cap="flat" w="12700">
              <a:solidFill>
                <a:srgbClr val="FFFFFF">
                  <a:alpha val="4706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" id="6"/>
            <p:cNvSpPr/>
            <p:nvPr/>
          </p:nvSpPr>
          <p:spPr>
            <a:xfrm flipH="true" flipV="true">
              <a:off x="23771420" y="0"/>
              <a:ext cx="0" cy="15194962"/>
            </a:xfrm>
            <a:prstGeom prst="line">
              <a:avLst/>
            </a:prstGeom>
            <a:ln cap="flat" w="12700">
              <a:solidFill>
                <a:srgbClr val="FFFFFF">
                  <a:alpha val="4706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" id="7"/>
            <p:cNvSpPr/>
            <p:nvPr/>
          </p:nvSpPr>
          <p:spPr>
            <a:xfrm flipH="true" flipV="true">
              <a:off x="16562053" y="0"/>
              <a:ext cx="0" cy="15194962"/>
            </a:xfrm>
            <a:prstGeom prst="line">
              <a:avLst/>
            </a:prstGeom>
            <a:ln cap="flat" w="12700">
              <a:solidFill>
                <a:srgbClr val="FFFFFF">
                  <a:alpha val="4706"/>
                </a:srgbClr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8" id="8"/>
          <p:cNvGrpSpPr/>
          <p:nvPr/>
        </p:nvGrpSpPr>
        <p:grpSpPr>
          <a:xfrm rot="5400000">
            <a:off x="7571123" y="-10005917"/>
            <a:ext cx="3145753" cy="21342304"/>
            <a:chOff x="0" y="0"/>
            <a:chExt cx="828511" cy="562101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28511" cy="5621018"/>
            </a:xfrm>
            <a:custGeom>
              <a:avLst/>
              <a:gdLst/>
              <a:ahLst/>
              <a:cxnLst/>
              <a:rect r="r" b="b" t="t" l="l"/>
              <a:pathLst>
                <a:path h="5621018" w="828511">
                  <a:moveTo>
                    <a:pt x="0" y="0"/>
                  </a:moveTo>
                  <a:lnTo>
                    <a:pt x="828511" y="0"/>
                  </a:lnTo>
                  <a:lnTo>
                    <a:pt x="828511" y="5621018"/>
                  </a:lnTo>
                  <a:lnTo>
                    <a:pt x="0" y="5621018"/>
                  </a:lnTo>
                  <a:close/>
                </a:path>
              </a:pathLst>
            </a:custGeom>
            <a:gradFill rotWithShape="true">
              <a:gsLst>
                <a:gs pos="0">
                  <a:srgbClr val="852531">
                    <a:alpha val="100000"/>
                  </a:srgbClr>
                </a:gs>
                <a:gs pos="50000">
                  <a:srgbClr val="852531">
                    <a:alpha val="49500"/>
                  </a:srgbClr>
                </a:gs>
                <a:gs pos="100000">
                  <a:srgbClr val="85253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828511" cy="56591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5400000">
            <a:off x="7317059" y="-795323"/>
            <a:ext cx="3653882" cy="21342304"/>
            <a:chOff x="0" y="0"/>
            <a:chExt cx="962339" cy="562101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62339" cy="5621018"/>
            </a:xfrm>
            <a:custGeom>
              <a:avLst/>
              <a:gdLst/>
              <a:ahLst/>
              <a:cxnLst/>
              <a:rect r="r" b="b" t="t" l="l"/>
              <a:pathLst>
                <a:path h="5621018" w="962339">
                  <a:moveTo>
                    <a:pt x="0" y="0"/>
                  </a:moveTo>
                  <a:lnTo>
                    <a:pt x="962339" y="0"/>
                  </a:lnTo>
                  <a:lnTo>
                    <a:pt x="962339" y="5621018"/>
                  </a:lnTo>
                  <a:lnTo>
                    <a:pt x="0" y="5621018"/>
                  </a:lnTo>
                  <a:close/>
                </a:path>
              </a:pathLst>
            </a:custGeom>
            <a:gradFill rotWithShape="true">
              <a:gsLst>
                <a:gs pos="0">
                  <a:srgbClr val="852531">
                    <a:alpha val="100000"/>
                  </a:srgbClr>
                </a:gs>
                <a:gs pos="50000">
                  <a:srgbClr val="852531">
                    <a:alpha val="49500"/>
                  </a:srgbClr>
                </a:gs>
                <a:gs pos="100000">
                  <a:srgbClr val="85253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962339" cy="56591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4" id="14"/>
          <p:cNvSpPr/>
          <p:nvPr/>
        </p:nvSpPr>
        <p:spPr>
          <a:xfrm>
            <a:off x="1028700" y="1166139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5" id="15"/>
          <p:cNvGrpSpPr/>
          <p:nvPr/>
        </p:nvGrpSpPr>
        <p:grpSpPr>
          <a:xfrm rot="0">
            <a:off x="1028700" y="5143500"/>
            <a:ext cx="16230600" cy="4114800"/>
            <a:chOff x="0" y="0"/>
            <a:chExt cx="4274726" cy="108373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274726" cy="1083733"/>
            </a:xfrm>
            <a:custGeom>
              <a:avLst/>
              <a:gdLst/>
              <a:ahLst/>
              <a:cxnLst/>
              <a:rect r="r" b="b" t="t" l="l"/>
              <a:pathLst>
                <a:path h="1083733" w="4274726">
                  <a:moveTo>
                    <a:pt x="31482" y="0"/>
                  </a:moveTo>
                  <a:lnTo>
                    <a:pt x="4243244" y="0"/>
                  </a:lnTo>
                  <a:cubicBezTo>
                    <a:pt x="4260631" y="0"/>
                    <a:pt x="4274726" y="14095"/>
                    <a:pt x="4274726" y="31482"/>
                  </a:cubicBezTo>
                  <a:lnTo>
                    <a:pt x="4274726" y="1052252"/>
                  </a:lnTo>
                  <a:cubicBezTo>
                    <a:pt x="4274726" y="1060601"/>
                    <a:pt x="4271409" y="1068609"/>
                    <a:pt x="4265505" y="1074513"/>
                  </a:cubicBezTo>
                  <a:cubicBezTo>
                    <a:pt x="4259601" y="1080417"/>
                    <a:pt x="4251594" y="1083733"/>
                    <a:pt x="4243244" y="1083733"/>
                  </a:cubicBezTo>
                  <a:lnTo>
                    <a:pt x="31482" y="1083733"/>
                  </a:lnTo>
                  <a:cubicBezTo>
                    <a:pt x="14095" y="1083733"/>
                    <a:pt x="0" y="1069638"/>
                    <a:pt x="0" y="1052252"/>
                  </a:cubicBezTo>
                  <a:lnTo>
                    <a:pt x="0" y="31482"/>
                  </a:lnTo>
                  <a:cubicBezTo>
                    <a:pt x="0" y="14095"/>
                    <a:pt x="14095" y="0"/>
                    <a:pt x="3148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8F8F8">
                    <a:alpha val="14500"/>
                  </a:srgbClr>
                </a:gs>
                <a:gs pos="50000">
                  <a:srgbClr val="F8F8F8">
                    <a:alpha val="7000"/>
                  </a:srgbClr>
                </a:gs>
                <a:gs pos="100000">
                  <a:srgbClr val="F8F8F8">
                    <a:alpha val="14500"/>
                  </a:srgbClr>
                </a:gs>
              </a:gsLst>
              <a:lin ang="0"/>
            </a:gra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4274726" cy="11218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252093" y="4917379"/>
            <a:ext cx="5783814" cy="4567042"/>
            <a:chOff x="0" y="0"/>
            <a:chExt cx="1523309" cy="120284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523309" cy="1202842"/>
            </a:xfrm>
            <a:custGeom>
              <a:avLst/>
              <a:gdLst/>
              <a:ahLst/>
              <a:cxnLst/>
              <a:rect r="r" b="b" t="t" l="l"/>
              <a:pathLst>
                <a:path h="1202842" w="1523309">
                  <a:moveTo>
                    <a:pt x="88344" y="0"/>
                  </a:moveTo>
                  <a:lnTo>
                    <a:pt x="1434965" y="0"/>
                  </a:lnTo>
                  <a:cubicBezTo>
                    <a:pt x="1458395" y="0"/>
                    <a:pt x="1480866" y="9308"/>
                    <a:pt x="1497434" y="25875"/>
                  </a:cubicBezTo>
                  <a:cubicBezTo>
                    <a:pt x="1514001" y="42443"/>
                    <a:pt x="1523309" y="64914"/>
                    <a:pt x="1523309" y="88344"/>
                  </a:cubicBezTo>
                  <a:lnTo>
                    <a:pt x="1523309" y="1114498"/>
                  </a:lnTo>
                  <a:cubicBezTo>
                    <a:pt x="1523309" y="1137928"/>
                    <a:pt x="1514001" y="1160399"/>
                    <a:pt x="1497434" y="1176967"/>
                  </a:cubicBezTo>
                  <a:cubicBezTo>
                    <a:pt x="1480866" y="1193535"/>
                    <a:pt x="1458395" y="1202842"/>
                    <a:pt x="1434965" y="1202842"/>
                  </a:cubicBezTo>
                  <a:lnTo>
                    <a:pt x="88344" y="1202842"/>
                  </a:lnTo>
                  <a:cubicBezTo>
                    <a:pt x="64914" y="1202842"/>
                    <a:pt x="42443" y="1193535"/>
                    <a:pt x="25875" y="1176967"/>
                  </a:cubicBezTo>
                  <a:cubicBezTo>
                    <a:pt x="9308" y="1160399"/>
                    <a:pt x="0" y="1137928"/>
                    <a:pt x="0" y="1114498"/>
                  </a:cubicBezTo>
                  <a:lnTo>
                    <a:pt x="0" y="88344"/>
                  </a:lnTo>
                  <a:cubicBezTo>
                    <a:pt x="0" y="64914"/>
                    <a:pt x="9308" y="42443"/>
                    <a:pt x="25875" y="25875"/>
                  </a:cubicBezTo>
                  <a:cubicBezTo>
                    <a:pt x="42443" y="9308"/>
                    <a:pt x="64914" y="0"/>
                    <a:pt x="8834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E1923">
                    <a:alpha val="100000"/>
                  </a:srgbClr>
                </a:gs>
                <a:gs pos="50000">
                  <a:srgbClr val="3E1923">
                    <a:alpha val="100000"/>
                  </a:srgbClr>
                </a:gs>
                <a:gs pos="100000">
                  <a:srgbClr val="19111B">
                    <a:alpha val="100000"/>
                  </a:srgbClr>
                </a:gs>
              </a:gsLst>
              <a:path path="circle">
                <a:fillToRect l="50000" r="50000" t="50000" b="50000"/>
              </a:path>
            </a:gra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523309" cy="12409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1487545" y="1645108"/>
            <a:ext cx="1688710" cy="1440009"/>
          </a:xfrm>
          <a:custGeom>
            <a:avLst/>
            <a:gdLst/>
            <a:ahLst/>
            <a:cxnLst/>
            <a:rect r="r" b="b" t="t" l="l"/>
            <a:pathLst>
              <a:path h="1440009" w="1688710">
                <a:moveTo>
                  <a:pt x="0" y="0"/>
                </a:moveTo>
                <a:lnTo>
                  <a:pt x="1688710" y="0"/>
                </a:lnTo>
                <a:lnTo>
                  <a:pt x="1688710" y="1440009"/>
                </a:lnTo>
                <a:lnTo>
                  <a:pt x="0" y="14400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487545" y="1817433"/>
            <a:ext cx="15312909" cy="148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841"/>
              </a:lnSpc>
            </a:pPr>
            <a:r>
              <a:rPr lang="en-US" sz="12046" spc="-722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Problem Stat</a:t>
            </a:r>
            <a:r>
              <a:rPr lang="en-US" sz="12046" spc="-722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ement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87545" y="5630469"/>
            <a:ext cx="4259764" cy="497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57"/>
              </a:lnSpc>
            </a:pPr>
            <a:r>
              <a:rPr lang="en-US" b="true" sz="4063" spc="-243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The Objective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567678" y="5634969"/>
            <a:ext cx="4259764" cy="497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57"/>
              </a:lnSpc>
            </a:pPr>
            <a:r>
              <a:rPr lang="en-US" b="true" sz="4063" spc="-243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Why it Matters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014118" y="5634969"/>
            <a:ext cx="4259764" cy="497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57"/>
              </a:lnSpc>
            </a:pPr>
            <a:r>
              <a:rPr lang="en-US" b="true" sz="4063" spc="-243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Key Questions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430330" y="3516460"/>
            <a:ext cx="13427339" cy="683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20"/>
              </a:lnSpc>
            </a:pPr>
            <a:r>
              <a:rPr lang="en-US" sz="2000" i="true" spc="-50">
                <a:solidFill>
                  <a:srgbClr val="F6F4F3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Th</a:t>
            </a:r>
            <a:r>
              <a:rPr lang="en-US" sz="2000" i="true" spc="-50">
                <a:solidFill>
                  <a:srgbClr val="F6F4F3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is analysis examines how student subgroups differ in academic performance and attendance to identify potential equity gaps and improvement opportunities.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87545" y="6446231"/>
            <a:ext cx="4259764" cy="2125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8"/>
              </a:lnSpc>
            </a:pPr>
            <a:r>
              <a:rPr lang="en-US" sz="1800" i="true" spc="-45">
                <a:solidFill>
                  <a:srgbClr val="F6F4F3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Th</a:t>
            </a:r>
            <a:r>
              <a:rPr lang="en-US" sz="1800" i="true" spc="-45">
                <a:solidFill>
                  <a:srgbClr val="F6F4F3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is project analyzes student performance and attendance data to identify patterns in academic outcomes across key student subgroups, including English Learners, Special Education students, grade levels, and schools.</a:t>
            </a:r>
          </a:p>
          <a:p>
            <a:pPr algn="l">
              <a:lnSpc>
                <a:spcPts val="2448"/>
              </a:lnSpc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12567678" y="6450732"/>
            <a:ext cx="4259764" cy="1820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8"/>
              </a:lnSpc>
            </a:pPr>
            <a:r>
              <a:rPr lang="en-US" sz="1800" i="true" spc="-45">
                <a:solidFill>
                  <a:srgbClr val="F6F4F3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Und</a:t>
            </a:r>
            <a:r>
              <a:rPr lang="en-US" sz="1800" i="true" spc="-45">
                <a:solidFill>
                  <a:srgbClr val="F6F4F3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erstanding these trends helps educators and stakeholders make informed decisions to improve student outcomes, allocate resources effectively, and identify at-risk populations early.</a:t>
            </a:r>
          </a:p>
          <a:p>
            <a:pPr algn="l">
              <a:lnSpc>
                <a:spcPts val="2448"/>
              </a:lnSpc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7014118" y="6450732"/>
            <a:ext cx="4259764" cy="3039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2" indent="-194311" lvl="1">
              <a:lnSpc>
                <a:spcPts val="2448"/>
              </a:lnSpc>
              <a:buFont typeface="Arial"/>
              <a:buChar char="•"/>
            </a:pPr>
            <a:r>
              <a:rPr lang="en-US" sz="1800" i="true" spc="-45">
                <a:solidFill>
                  <a:srgbClr val="F6F4F3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A</a:t>
            </a:r>
            <a:r>
              <a:rPr lang="en-US" sz="1800" i="true" spc="-45">
                <a:solidFill>
                  <a:srgbClr val="F6F4F3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re certain student groups underperforming?</a:t>
            </a:r>
          </a:p>
          <a:p>
            <a:pPr algn="l">
              <a:lnSpc>
                <a:spcPts val="2448"/>
              </a:lnSpc>
            </a:pPr>
          </a:p>
          <a:p>
            <a:pPr algn="l" marL="388622" indent="-194311" lvl="1">
              <a:lnSpc>
                <a:spcPts val="2448"/>
              </a:lnSpc>
              <a:buFont typeface="Arial"/>
              <a:buChar char="•"/>
            </a:pPr>
            <a:r>
              <a:rPr lang="en-US" sz="1800" i="true" spc="-45">
                <a:solidFill>
                  <a:srgbClr val="F6F4F3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How does attendance impact academic performance?</a:t>
            </a:r>
          </a:p>
          <a:p>
            <a:pPr algn="l">
              <a:lnSpc>
                <a:spcPts val="2448"/>
              </a:lnSpc>
            </a:pPr>
          </a:p>
          <a:p>
            <a:pPr algn="l" marL="388622" indent="-194311" lvl="1">
              <a:lnSpc>
                <a:spcPts val="2448"/>
              </a:lnSpc>
              <a:buFont typeface="Arial"/>
              <a:buChar char="•"/>
            </a:pPr>
            <a:r>
              <a:rPr lang="en-US" sz="1800" i="true" spc="-45">
                <a:solidFill>
                  <a:srgbClr val="F6F4F3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Which schools or grades show the most variability?</a:t>
            </a:r>
          </a:p>
          <a:p>
            <a:pPr algn="l">
              <a:lnSpc>
                <a:spcPts val="2448"/>
              </a:lnSpc>
            </a:pPr>
          </a:p>
          <a:p>
            <a:pPr algn="l">
              <a:lnSpc>
                <a:spcPts val="2448"/>
              </a:lnSpc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1028700" y="665366"/>
            <a:ext cx="2571016" cy="363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3"/>
              </a:lnSpc>
            </a:pPr>
            <a:r>
              <a:rPr lang="en-US" sz="2195" spc="-11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Miranda Insights LLC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4697560" y="663042"/>
            <a:ext cx="2561740" cy="363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073"/>
              </a:lnSpc>
              <a:spcBef>
                <a:spcPct val="0"/>
              </a:spcBef>
            </a:pPr>
            <a:r>
              <a:rPr lang="en-US" sz="2195" spc="-11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March 2026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1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13130" y="-375629"/>
            <a:ext cx="19705935" cy="11396222"/>
            <a:chOff x="0" y="0"/>
            <a:chExt cx="26274580" cy="15194962"/>
          </a:xfrm>
        </p:grpSpPr>
        <p:sp>
          <p:nvSpPr>
            <p:cNvPr name="AutoShape 3" id="3"/>
            <p:cNvSpPr/>
            <p:nvPr/>
          </p:nvSpPr>
          <p:spPr>
            <a:xfrm flipH="true" flipV="true">
              <a:off x="2143320" y="0"/>
              <a:ext cx="0" cy="15194962"/>
            </a:xfrm>
            <a:prstGeom prst="line">
              <a:avLst/>
            </a:prstGeom>
            <a:ln cap="flat" w="12700">
              <a:solidFill>
                <a:srgbClr val="FFFFFF">
                  <a:alpha val="4706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" id="4"/>
            <p:cNvSpPr/>
            <p:nvPr/>
          </p:nvSpPr>
          <p:spPr>
            <a:xfrm flipH="true">
              <a:off x="0" y="3862444"/>
              <a:ext cx="26274580" cy="0"/>
            </a:xfrm>
            <a:prstGeom prst="line">
              <a:avLst/>
            </a:prstGeom>
            <a:ln cap="flat" w="12700">
              <a:solidFill>
                <a:srgbClr val="FFFFFF">
                  <a:alpha val="4706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" id="5"/>
            <p:cNvSpPr/>
            <p:nvPr/>
          </p:nvSpPr>
          <p:spPr>
            <a:xfrm flipH="true" flipV="true">
              <a:off x="9352687" y="0"/>
              <a:ext cx="0" cy="15194962"/>
            </a:xfrm>
            <a:prstGeom prst="line">
              <a:avLst/>
            </a:prstGeom>
            <a:ln cap="flat" w="12700">
              <a:solidFill>
                <a:srgbClr val="FFFFFF">
                  <a:alpha val="4706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" id="6"/>
            <p:cNvSpPr/>
            <p:nvPr/>
          </p:nvSpPr>
          <p:spPr>
            <a:xfrm flipH="true" flipV="true">
              <a:off x="23771420" y="0"/>
              <a:ext cx="0" cy="15194962"/>
            </a:xfrm>
            <a:prstGeom prst="line">
              <a:avLst/>
            </a:prstGeom>
            <a:ln cap="flat" w="12700">
              <a:solidFill>
                <a:srgbClr val="FFFFFF">
                  <a:alpha val="4706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" id="7"/>
            <p:cNvSpPr/>
            <p:nvPr/>
          </p:nvSpPr>
          <p:spPr>
            <a:xfrm flipH="true" flipV="true">
              <a:off x="16562053" y="0"/>
              <a:ext cx="0" cy="15194962"/>
            </a:xfrm>
            <a:prstGeom prst="line">
              <a:avLst/>
            </a:prstGeom>
            <a:ln cap="flat" w="12700">
              <a:solidFill>
                <a:srgbClr val="FFFFFF">
                  <a:alpha val="4706"/>
                </a:srgbClr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8" id="8"/>
          <p:cNvGrpSpPr/>
          <p:nvPr/>
        </p:nvGrpSpPr>
        <p:grpSpPr>
          <a:xfrm rot="5400000">
            <a:off x="7571123" y="-10005917"/>
            <a:ext cx="3145753" cy="21342304"/>
            <a:chOff x="0" y="0"/>
            <a:chExt cx="828511" cy="562101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28511" cy="5621018"/>
            </a:xfrm>
            <a:custGeom>
              <a:avLst/>
              <a:gdLst/>
              <a:ahLst/>
              <a:cxnLst/>
              <a:rect r="r" b="b" t="t" l="l"/>
              <a:pathLst>
                <a:path h="5621018" w="828511">
                  <a:moveTo>
                    <a:pt x="0" y="0"/>
                  </a:moveTo>
                  <a:lnTo>
                    <a:pt x="828511" y="0"/>
                  </a:lnTo>
                  <a:lnTo>
                    <a:pt x="828511" y="5621018"/>
                  </a:lnTo>
                  <a:lnTo>
                    <a:pt x="0" y="5621018"/>
                  </a:lnTo>
                  <a:close/>
                </a:path>
              </a:pathLst>
            </a:custGeom>
            <a:gradFill rotWithShape="true">
              <a:gsLst>
                <a:gs pos="0">
                  <a:srgbClr val="852531">
                    <a:alpha val="100000"/>
                  </a:srgbClr>
                </a:gs>
                <a:gs pos="50000">
                  <a:srgbClr val="852531">
                    <a:alpha val="49500"/>
                  </a:srgbClr>
                </a:gs>
                <a:gs pos="100000">
                  <a:srgbClr val="85253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828511" cy="56591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5400000">
            <a:off x="7317059" y="-795323"/>
            <a:ext cx="3653882" cy="21342304"/>
            <a:chOff x="0" y="0"/>
            <a:chExt cx="962339" cy="562101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62339" cy="5621018"/>
            </a:xfrm>
            <a:custGeom>
              <a:avLst/>
              <a:gdLst/>
              <a:ahLst/>
              <a:cxnLst/>
              <a:rect r="r" b="b" t="t" l="l"/>
              <a:pathLst>
                <a:path h="5621018" w="962339">
                  <a:moveTo>
                    <a:pt x="0" y="0"/>
                  </a:moveTo>
                  <a:lnTo>
                    <a:pt x="962339" y="0"/>
                  </a:lnTo>
                  <a:lnTo>
                    <a:pt x="962339" y="5621018"/>
                  </a:lnTo>
                  <a:lnTo>
                    <a:pt x="0" y="5621018"/>
                  </a:lnTo>
                  <a:close/>
                </a:path>
              </a:pathLst>
            </a:custGeom>
            <a:gradFill rotWithShape="true">
              <a:gsLst>
                <a:gs pos="0">
                  <a:srgbClr val="852531">
                    <a:alpha val="100000"/>
                  </a:srgbClr>
                </a:gs>
                <a:gs pos="50000">
                  <a:srgbClr val="852531">
                    <a:alpha val="49500"/>
                  </a:srgbClr>
                </a:gs>
                <a:gs pos="100000">
                  <a:srgbClr val="85253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962339" cy="56591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4" id="14"/>
          <p:cNvSpPr/>
          <p:nvPr/>
        </p:nvSpPr>
        <p:spPr>
          <a:xfrm>
            <a:off x="1028700" y="1166139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5" id="15"/>
          <p:cNvGrpSpPr/>
          <p:nvPr/>
        </p:nvGrpSpPr>
        <p:grpSpPr>
          <a:xfrm rot="0">
            <a:off x="9144000" y="5573910"/>
            <a:ext cx="8115300" cy="3684390"/>
            <a:chOff x="0" y="0"/>
            <a:chExt cx="1257272" cy="57080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57272" cy="570808"/>
            </a:xfrm>
            <a:custGeom>
              <a:avLst/>
              <a:gdLst/>
              <a:ahLst/>
              <a:cxnLst/>
              <a:rect r="r" b="b" t="t" l="l"/>
              <a:pathLst>
                <a:path h="570808" w="1257272">
                  <a:moveTo>
                    <a:pt x="21942" y="0"/>
                  </a:moveTo>
                  <a:lnTo>
                    <a:pt x="1235331" y="0"/>
                  </a:lnTo>
                  <a:cubicBezTo>
                    <a:pt x="1247449" y="0"/>
                    <a:pt x="1257272" y="9824"/>
                    <a:pt x="1257272" y="21942"/>
                  </a:cubicBezTo>
                  <a:lnTo>
                    <a:pt x="1257272" y="548867"/>
                  </a:lnTo>
                  <a:cubicBezTo>
                    <a:pt x="1257272" y="554686"/>
                    <a:pt x="1254961" y="560267"/>
                    <a:pt x="1250846" y="564382"/>
                  </a:cubicBezTo>
                  <a:cubicBezTo>
                    <a:pt x="1246731" y="568497"/>
                    <a:pt x="1241150" y="570808"/>
                    <a:pt x="1235331" y="570808"/>
                  </a:cubicBezTo>
                  <a:lnTo>
                    <a:pt x="21942" y="570808"/>
                  </a:lnTo>
                  <a:cubicBezTo>
                    <a:pt x="16122" y="570808"/>
                    <a:pt x="10541" y="568497"/>
                    <a:pt x="6427" y="564382"/>
                  </a:cubicBezTo>
                  <a:cubicBezTo>
                    <a:pt x="2312" y="560267"/>
                    <a:pt x="0" y="554686"/>
                    <a:pt x="0" y="548867"/>
                  </a:cubicBezTo>
                  <a:lnTo>
                    <a:pt x="0" y="21942"/>
                  </a:lnTo>
                  <a:cubicBezTo>
                    <a:pt x="0" y="16122"/>
                    <a:pt x="2312" y="10541"/>
                    <a:pt x="6427" y="6427"/>
                  </a:cubicBezTo>
                  <a:cubicBezTo>
                    <a:pt x="10541" y="2312"/>
                    <a:pt x="16122" y="0"/>
                    <a:pt x="21942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30666" r="0" b="-89594"/>
              </a:stretch>
            </a:blipFill>
            <a:ln w="19050" cap="rnd">
              <a:solidFill>
                <a:srgbClr val="FFFFFF"/>
              </a:solidFill>
              <a:prstDash val="solid"/>
              <a:round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9144000" y="1773401"/>
            <a:ext cx="8115300" cy="3370099"/>
            <a:chOff x="0" y="0"/>
            <a:chExt cx="1345193" cy="55862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45193" cy="558628"/>
            </a:xfrm>
            <a:custGeom>
              <a:avLst/>
              <a:gdLst/>
              <a:ahLst/>
              <a:cxnLst/>
              <a:rect r="r" b="b" t="t" l="l"/>
              <a:pathLst>
                <a:path h="558628" w="1345193">
                  <a:moveTo>
                    <a:pt x="21942" y="0"/>
                  </a:moveTo>
                  <a:lnTo>
                    <a:pt x="1323251" y="0"/>
                  </a:lnTo>
                  <a:cubicBezTo>
                    <a:pt x="1335370" y="0"/>
                    <a:pt x="1345193" y="9824"/>
                    <a:pt x="1345193" y="21942"/>
                  </a:cubicBezTo>
                  <a:lnTo>
                    <a:pt x="1345193" y="536686"/>
                  </a:lnTo>
                  <a:cubicBezTo>
                    <a:pt x="1345193" y="542506"/>
                    <a:pt x="1342882" y="548087"/>
                    <a:pt x="1338767" y="552201"/>
                  </a:cubicBezTo>
                  <a:cubicBezTo>
                    <a:pt x="1334652" y="556316"/>
                    <a:pt x="1329071" y="558628"/>
                    <a:pt x="1323251" y="558628"/>
                  </a:cubicBezTo>
                  <a:lnTo>
                    <a:pt x="21942" y="558628"/>
                  </a:lnTo>
                  <a:cubicBezTo>
                    <a:pt x="9824" y="558628"/>
                    <a:pt x="0" y="548804"/>
                    <a:pt x="0" y="536686"/>
                  </a:cubicBezTo>
                  <a:lnTo>
                    <a:pt x="0" y="21942"/>
                  </a:lnTo>
                  <a:cubicBezTo>
                    <a:pt x="0" y="16122"/>
                    <a:pt x="2312" y="10541"/>
                    <a:pt x="6427" y="6427"/>
                  </a:cubicBezTo>
                  <a:cubicBezTo>
                    <a:pt x="10541" y="2312"/>
                    <a:pt x="16122" y="0"/>
                    <a:pt x="21942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30217" r="0" b="-30217"/>
              </a:stretch>
            </a:blipFill>
            <a:ln w="19050" cap="rnd">
              <a:solidFill>
                <a:srgbClr val="FFFFFF"/>
              </a:solidFill>
              <a:prstDash val="solid"/>
              <a:round/>
            </a:ln>
          </p:spPr>
        </p:sp>
      </p:grpSp>
      <p:sp>
        <p:nvSpPr>
          <p:cNvPr name="Freeform 19" id="19"/>
          <p:cNvSpPr/>
          <p:nvPr/>
        </p:nvSpPr>
        <p:spPr>
          <a:xfrm flipH="false" flipV="false" rot="0">
            <a:off x="4432015" y="2238112"/>
            <a:ext cx="1287351" cy="1220338"/>
          </a:xfrm>
          <a:custGeom>
            <a:avLst/>
            <a:gdLst/>
            <a:ahLst/>
            <a:cxnLst/>
            <a:rect r="r" b="b" t="t" l="l"/>
            <a:pathLst>
              <a:path h="1220338" w="1287351">
                <a:moveTo>
                  <a:pt x="0" y="0"/>
                </a:moveTo>
                <a:lnTo>
                  <a:pt x="1287351" y="0"/>
                </a:lnTo>
                <a:lnTo>
                  <a:pt x="1287351" y="1220339"/>
                </a:lnTo>
                <a:lnTo>
                  <a:pt x="0" y="12203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028700" y="2116301"/>
            <a:ext cx="8926792" cy="2857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41"/>
              </a:lnSpc>
            </a:pPr>
            <a:r>
              <a:rPr lang="en-US" sz="12046" spc="-722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Data</a:t>
            </a:r>
          </a:p>
          <a:p>
            <a:pPr algn="l" marL="0" indent="0" lvl="0">
              <a:lnSpc>
                <a:spcPts val="10841"/>
              </a:lnSpc>
            </a:pPr>
            <a:r>
              <a:rPr lang="en-US" sz="12046" spc="-722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Overview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28700" y="5545335"/>
            <a:ext cx="6806630" cy="2125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8"/>
              </a:lnSpc>
            </a:pPr>
            <a:r>
              <a:rPr lang="en-US" sz="1800" i="true" spc="-45">
                <a:solidFill>
                  <a:srgbClr val="F6F4F3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This p</a:t>
            </a:r>
            <a:r>
              <a:rPr lang="en-US" sz="1800" i="true" spc="-45">
                <a:solidFill>
                  <a:srgbClr val="F6F4F3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roject uses a simulated Student Information System (SIS) dataset containing student demographics, attendance records, assessment scores, and school information. The data was structured into a relational database, allowing for efficient joins and scalable analysis across multiple dimensions such as grade level, program participation (EL/SPED), and subject performance.</a:t>
            </a:r>
          </a:p>
          <a:p>
            <a:pPr algn="l">
              <a:lnSpc>
                <a:spcPts val="2448"/>
              </a:lnSpc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1028700" y="7799976"/>
            <a:ext cx="6806630" cy="2125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8"/>
              </a:lnSpc>
            </a:pPr>
            <a:r>
              <a:rPr lang="en-US" sz="1800" i="true" spc="-45">
                <a:solidFill>
                  <a:srgbClr val="F6F4F3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The w</a:t>
            </a:r>
            <a:r>
              <a:rPr lang="en-US" sz="1800" i="true" spc="-45">
                <a:solidFill>
                  <a:srgbClr val="F6F4F3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orkflow integrates multiple technologies to demonstrate a full data pipeline. Data was queried and secured using SQL, extracted via a Python API pipeline, analyzed using Python and R, and visualized through both Quarto dashboards and Excel. Final insights were compiled into presentation-ready visuals and reports, showcasing both technical execution and business communication.</a:t>
            </a:r>
          </a:p>
          <a:p>
            <a:pPr algn="l">
              <a:lnSpc>
                <a:spcPts val="2448"/>
              </a:lnSpc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1028700" y="665366"/>
            <a:ext cx="2571016" cy="363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3"/>
              </a:lnSpc>
            </a:pPr>
            <a:r>
              <a:rPr lang="en-US" sz="2195" spc="-11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Miranda Insights LLC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697560" y="663042"/>
            <a:ext cx="2561740" cy="363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073"/>
              </a:lnSpc>
              <a:spcBef>
                <a:spcPct val="0"/>
              </a:spcBef>
            </a:pPr>
            <a:r>
              <a:rPr lang="en-US" sz="2195" spc="-11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March 2026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1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13130" y="-375629"/>
            <a:ext cx="19705935" cy="11396222"/>
            <a:chOff x="0" y="0"/>
            <a:chExt cx="26274580" cy="15194962"/>
          </a:xfrm>
        </p:grpSpPr>
        <p:sp>
          <p:nvSpPr>
            <p:cNvPr name="AutoShape 3" id="3"/>
            <p:cNvSpPr/>
            <p:nvPr/>
          </p:nvSpPr>
          <p:spPr>
            <a:xfrm flipH="true" flipV="true">
              <a:off x="2143320" y="0"/>
              <a:ext cx="0" cy="15194962"/>
            </a:xfrm>
            <a:prstGeom prst="line">
              <a:avLst/>
            </a:prstGeom>
            <a:ln cap="flat" w="12700">
              <a:solidFill>
                <a:srgbClr val="FFFFFF">
                  <a:alpha val="4706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" id="4"/>
            <p:cNvSpPr/>
            <p:nvPr/>
          </p:nvSpPr>
          <p:spPr>
            <a:xfrm flipH="true">
              <a:off x="0" y="3862444"/>
              <a:ext cx="26274580" cy="0"/>
            </a:xfrm>
            <a:prstGeom prst="line">
              <a:avLst/>
            </a:prstGeom>
            <a:ln cap="flat" w="12700">
              <a:solidFill>
                <a:srgbClr val="FFFFFF">
                  <a:alpha val="4706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" id="5"/>
            <p:cNvSpPr/>
            <p:nvPr/>
          </p:nvSpPr>
          <p:spPr>
            <a:xfrm flipH="true" flipV="true">
              <a:off x="9352687" y="0"/>
              <a:ext cx="0" cy="15194962"/>
            </a:xfrm>
            <a:prstGeom prst="line">
              <a:avLst/>
            </a:prstGeom>
            <a:ln cap="flat" w="12700">
              <a:solidFill>
                <a:srgbClr val="FFFFFF">
                  <a:alpha val="4706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" id="6"/>
            <p:cNvSpPr/>
            <p:nvPr/>
          </p:nvSpPr>
          <p:spPr>
            <a:xfrm flipH="true" flipV="true">
              <a:off x="23771420" y="0"/>
              <a:ext cx="0" cy="15194962"/>
            </a:xfrm>
            <a:prstGeom prst="line">
              <a:avLst/>
            </a:prstGeom>
            <a:ln cap="flat" w="12700">
              <a:solidFill>
                <a:srgbClr val="FFFFFF">
                  <a:alpha val="4706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" id="7"/>
            <p:cNvSpPr/>
            <p:nvPr/>
          </p:nvSpPr>
          <p:spPr>
            <a:xfrm flipH="true" flipV="true">
              <a:off x="16562053" y="0"/>
              <a:ext cx="0" cy="15194962"/>
            </a:xfrm>
            <a:prstGeom prst="line">
              <a:avLst/>
            </a:prstGeom>
            <a:ln cap="flat" w="12700">
              <a:solidFill>
                <a:srgbClr val="FFFFFF">
                  <a:alpha val="4706"/>
                </a:srgbClr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8" id="8"/>
          <p:cNvGrpSpPr/>
          <p:nvPr/>
        </p:nvGrpSpPr>
        <p:grpSpPr>
          <a:xfrm rot="5400000">
            <a:off x="7571123" y="-10005917"/>
            <a:ext cx="3145753" cy="21342304"/>
            <a:chOff x="0" y="0"/>
            <a:chExt cx="828511" cy="562101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28511" cy="5621018"/>
            </a:xfrm>
            <a:custGeom>
              <a:avLst/>
              <a:gdLst/>
              <a:ahLst/>
              <a:cxnLst/>
              <a:rect r="r" b="b" t="t" l="l"/>
              <a:pathLst>
                <a:path h="5621018" w="828511">
                  <a:moveTo>
                    <a:pt x="0" y="0"/>
                  </a:moveTo>
                  <a:lnTo>
                    <a:pt x="828511" y="0"/>
                  </a:lnTo>
                  <a:lnTo>
                    <a:pt x="828511" y="5621018"/>
                  </a:lnTo>
                  <a:lnTo>
                    <a:pt x="0" y="5621018"/>
                  </a:lnTo>
                  <a:close/>
                </a:path>
              </a:pathLst>
            </a:custGeom>
            <a:gradFill rotWithShape="true">
              <a:gsLst>
                <a:gs pos="0">
                  <a:srgbClr val="852531">
                    <a:alpha val="100000"/>
                  </a:srgbClr>
                </a:gs>
                <a:gs pos="50000">
                  <a:srgbClr val="852531">
                    <a:alpha val="49500"/>
                  </a:srgbClr>
                </a:gs>
                <a:gs pos="100000">
                  <a:srgbClr val="85253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828511" cy="56591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5400000">
            <a:off x="7317059" y="-795323"/>
            <a:ext cx="3653882" cy="21342304"/>
            <a:chOff x="0" y="0"/>
            <a:chExt cx="962339" cy="562101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62339" cy="5621018"/>
            </a:xfrm>
            <a:custGeom>
              <a:avLst/>
              <a:gdLst/>
              <a:ahLst/>
              <a:cxnLst/>
              <a:rect r="r" b="b" t="t" l="l"/>
              <a:pathLst>
                <a:path h="5621018" w="962339">
                  <a:moveTo>
                    <a:pt x="0" y="0"/>
                  </a:moveTo>
                  <a:lnTo>
                    <a:pt x="962339" y="0"/>
                  </a:lnTo>
                  <a:lnTo>
                    <a:pt x="962339" y="5621018"/>
                  </a:lnTo>
                  <a:lnTo>
                    <a:pt x="0" y="5621018"/>
                  </a:lnTo>
                  <a:close/>
                </a:path>
              </a:pathLst>
            </a:custGeom>
            <a:gradFill rotWithShape="true">
              <a:gsLst>
                <a:gs pos="0">
                  <a:srgbClr val="852531">
                    <a:alpha val="100000"/>
                  </a:srgbClr>
                </a:gs>
                <a:gs pos="50000">
                  <a:srgbClr val="852531">
                    <a:alpha val="49500"/>
                  </a:srgbClr>
                </a:gs>
                <a:gs pos="100000">
                  <a:srgbClr val="85253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962339" cy="56591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4" id="14"/>
          <p:cNvSpPr/>
          <p:nvPr/>
        </p:nvSpPr>
        <p:spPr>
          <a:xfrm>
            <a:off x="1028700" y="1166139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5" id="15"/>
          <p:cNvGrpSpPr/>
          <p:nvPr/>
        </p:nvGrpSpPr>
        <p:grpSpPr>
          <a:xfrm rot="0">
            <a:off x="874443" y="4127304"/>
            <a:ext cx="16539113" cy="5600206"/>
            <a:chOff x="0" y="0"/>
            <a:chExt cx="4355980" cy="147495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355980" cy="1474951"/>
            </a:xfrm>
            <a:custGeom>
              <a:avLst/>
              <a:gdLst/>
              <a:ahLst/>
              <a:cxnLst/>
              <a:rect r="r" b="b" t="t" l="l"/>
              <a:pathLst>
                <a:path h="1474951" w="4355980">
                  <a:moveTo>
                    <a:pt x="30894" y="0"/>
                  </a:moveTo>
                  <a:lnTo>
                    <a:pt x="4325086" y="0"/>
                  </a:lnTo>
                  <a:cubicBezTo>
                    <a:pt x="4333280" y="0"/>
                    <a:pt x="4341138" y="3255"/>
                    <a:pt x="4346932" y="9049"/>
                  </a:cubicBezTo>
                  <a:cubicBezTo>
                    <a:pt x="4352725" y="14843"/>
                    <a:pt x="4355980" y="22701"/>
                    <a:pt x="4355980" y="30894"/>
                  </a:cubicBezTo>
                  <a:lnTo>
                    <a:pt x="4355980" y="1444057"/>
                  </a:lnTo>
                  <a:cubicBezTo>
                    <a:pt x="4355980" y="1452251"/>
                    <a:pt x="4352725" y="1460109"/>
                    <a:pt x="4346932" y="1465903"/>
                  </a:cubicBezTo>
                  <a:cubicBezTo>
                    <a:pt x="4341138" y="1471696"/>
                    <a:pt x="4333280" y="1474951"/>
                    <a:pt x="4325086" y="1474951"/>
                  </a:cubicBezTo>
                  <a:lnTo>
                    <a:pt x="30894" y="1474951"/>
                  </a:lnTo>
                  <a:cubicBezTo>
                    <a:pt x="13832" y="1474951"/>
                    <a:pt x="0" y="1461119"/>
                    <a:pt x="0" y="1444057"/>
                  </a:cubicBezTo>
                  <a:lnTo>
                    <a:pt x="0" y="30894"/>
                  </a:lnTo>
                  <a:cubicBezTo>
                    <a:pt x="0" y="22701"/>
                    <a:pt x="3255" y="14843"/>
                    <a:pt x="9049" y="9049"/>
                  </a:cubicBezTo>
                  <a:cubicBezTo>
                    <a:pt x="14843" y="3255"/>
                    <a:pt x="22701" y="0"/>
                    <a:pt x="3089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8F8F8">
                    <a:alpha val="14500"/>
                  </a:srgbClr>
                </a:gs>
                <a:gs pos="50000">
                  <a:srgbClr val="F8F8F8">
                    <a:alpha val="7000"/>
                  </a:srgbClr>
                </a:gs>
                <a:gs pos="100000">
                  <a:srgbClr val="F8F8F8">
                    <a:alpha val="14500"/>
                  </a:srgbClr>
                </a:gs>
              </a:gsLst>
              <a:lin ang="0"/>
            </a:gra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4355980" cy="15130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9271946" y="4450238"/>
            <a:ext cx="7987354" cy="4792412"/>
          </a:xfrm>
          <a:custGeom>
            <a:avLst/>
            <a:gdLst/>
            <a:ahLst/>
            <a:cxnLst/>
            <a:rect r="r" b="b" t="t" l="l"/>
            <a:pathLst>
              <a:path h="4792412" w="7987354">
                <a:moveTo>
                  <a:pt x="0" y="0"/>
                </a:moveTo>
                <a:lnTo>
                  <a:pt x="7987354" y="0"/>
                </a:lnTo>
                <a:lnTo>
                  <a:pt x="7987354" y="4792412"/>
                </a:lnTo>
                <a:lnTo>
                  <a:pt x="0" y="47924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028700" y="4450238"/>
            <a:ext cx="8022819" cy="4813692"/>
          </a:xfrm>
          <a:custGeom>
            <a:avLst/>
            <a:gdLst/>
            <a:ahLst/>
            <a:cxnLst/>
            <a:rect r="r" b="b" t="t" l="l"/>
            <a:pathLst>
              <a:path h="4813692" w="8022819">
                <a:moveTo>
                  <a:pt x="0" y="0"/>
                </a:moveTo>
                <a:lnTo>
                  <a:pt x="8022819" y="0"/>
                </a:lnTo>
                <a:lnTo>
                  <a:pt x="8022819" y="4813692"/>
                </a:lnTo>
                <a:lnTo>
                  <a:pt x="0" y="48136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028700" y="1817433"/>
            <a:ext cx="16230600" cy="148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841"/>
              </a:lnSpc>
            </a:pPr>
            <a:r>
              <a:rPr lang="en-US" sz="12046" spc="-722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EL vs Non-EL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430330" y="3267007"/>
            <a:ext cx="13427339" cy="683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20"/>
              </a:lnSpc>
            </a:pPr>
            <a:r>
              <a:rPr lang="en-US" sz="2000" i="true" spc="-50">
                <a:solidFill>
                  <a:srgbClr val="F6F4F3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Th</a:t>
            </a:r>
            <a:r>
              <a:rPr lang="en-US" sz="2000" i="true" spc="-50">
                <a:solidFill>
                  <a:srgbClr val="F6F4F3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is view compares academic performance and attendance patterns between English Learner and non-EL student groups.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28700" y="665366"/>
            <a:ext cx="2571016" cy="363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3"/>
              </a:lnSpc>
            </a:pPr>
            <a:r>
              <a:rPr lang="en-US" sz="2195" spc="-11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Miranda Insights LLC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697560" y="663042"/>
            <a:ext cx="2561740" cy="363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073"/>
              </a:lnSpc>
              <a:spcBef>
                <a:spcPct val="0"/>
              </a:spcBef>
            </a:pPr>
            <a:r>
              <a:rPr lang="en-US" sz="2195" spc="-11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March 2026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191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13130" y="-375629"/>
            <a:ext cx="19705935" cy="11396222"/>
            <a:chOff x="0" y="0"/>
            <a:chExt cx="26274580" cy="15194962"/>
          </a:xfrm>
        </p:grpSpPr>
        <p:sp>
          <p:nvSpPr>
            <p:cNvPr name="AutoShape 3" id="3"/>
            <p:cNvSpPr/>
            <p:nvPr/>
          </p:nvSpPr>
          <p:spPr>
            <a:xfrm flipH="true" flipV="true">
              <a:off x="2143320" y="0"/>
              <a:ext cx="0" cy="15194962"/>
            </a:xfrm>
            <a:prstGeom prst="line">
              <a:avLst/>
            </a:prstGeom>
            <a:ln cap="flat" w="12700">
              <a:solidFill>
                <a:srgbClr val="FFFFFF">
                  <a:alpha val="4706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" id="4"/>
            <p:cNvSpPr/>
            <p:nvPr/>
          </p:nvSpPr>
          <p:spPr>
            <a:xfrm flipH="true">
              <a:off x="0" y="3862444"/>
              <a:ext cx="26274580" cy="0"/>
            </a:xfrm>
            <a:prstGeom prst="line">
              <a:avLst/>
            </a:prstGeom>
            <a:ln cap="flat" w="12700">
              <a:solidFill>
                <a:srgbClr val="FFFFFF">
                  <a:alpha val="4706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" id="5"/>
            <p:cNvSpPr/>
            <p:nvPr/>
          </p:nvSpPr>
          <p:spPr>
            <a:xfrm flipH="true" flipV="true">
              <a:off x="9352687" y="0"/>
              <a:ext cx="0" cy="15194962"/>
            </a:xfrm>
            <a:prstGeom prst="line">
              <a:avLst/>
            </a:prstGeom>
            <a:ln cap="flat" w="12700">
              <a:solidFill>
                <a:srgbClr val="FFFFFF">
                  <a:alpha val="4706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" id="6"/>
            <p:cNvSpPr/>
            <p:nvPr/>
          </p:nvSpPr>
          <p:spPr>
            <a:xfrm flipH="true" flipV="true">
              <a:off x="23771420" y="0"/>
              <a:ext cx="0" cy="15194962"/>
            </a:xfrm>
            <a:prstGeom prst="line">
              <a:avLst/>
            </a:prstGeom>
            <a:ln cap="flat" w="12700">
              <a:solidFill>
                <a:srgbClr val="FFFFFF">
                  <a:alpha val="4706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" id="7"/>
            <p:cNvSpPr/>
            <p:nvPr/>
          </p:nvSpPr>
          <p:spPr>
            <a:xfrm flipH="true" flipV="true">
              <a:off x="16562053" y="0"/>
              <a:ext cx="0" cy="15194962"/>
            </a:xfrm>
            <a:prstGeom prst="line">
              <a:avLst/>
            </a:prstGeom>
            <a:ln cap="flat" w="12700">
              <a:solidFill>
                <a:srgbClr val="FFFFFF">
                  <a:alpha val="4706"/>
                </a:srgbClr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8" id="8"/>
          <p:cNvGrpSpPr/>
          <p:nvPr/>
        </p:nvGrpSpPr>
        <p:grpSpPr>
          <a:xfrm rot="5400000">
            <a:off x="7571123" y="-10005917"/>
            <a:ext cx="3145753" cy="21342304"/>
            <a:chOff x="0" y="0"/>
            <a:chExt cx="828511" cy="562101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28511" cy="5621018"/>
            </a:xfrm>
            <a:custGeom>
              <a:avLst/>
              <a:gdLst/>
              <a:ahLst/>
              <a:cxnLst/>
              <a:rect r="r" b="b" t="t" l="l"/>
              <a:pathLst>
                <a:path h="5621018" w="828511">
                  <a:moveTo>
                    <a:pt x="0" y="0"/>
                  </a:moveTo>
                  <a:lnTo>
                    <a:pt x="828511" y="0"/>
                  </a:lnTo>
                  <a:lnTo>
                    <a:pt x="828511" y="5621018"/>
                  </a:lnTo>
                  <a:lnTo>
                    <a:pt x="0" y="5621018"/>
                  </a:lnTo>
                  <a:close/>
                </a:path>
              </a:pathLst>
            </a:custGeom>
            <a:gradFill rotWithShape="true">
              <a:gsLst>
                <a:gs pos="0">
                  <a:srgbClr val="852531">
                    <a:alpha val="100000"/>
                  </a:srgbClr>
                </a:gs>
                <a:gs pos="50000">
                  <a:srgbClr val="852531">
                    <a:alpha val="49500"/>
                  </a:srgbClr>
                </a:gs>
                <a:gs pos="100000">
                  <a:srgbClr val="85253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828511" cy="56591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5400000">
            <a:off x="7317059" y="-795323"/>
            <a:ext cx="3653882" cy="21342304"/>
            <a:chOff x="0" y="0"/>
            <a:chExt cx="962339" cy="562101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62339" cy="5621018"/>
            </a:xfrm>
            <a:custGeom>
              <a:avLst/>
              <a:gdLst/>
              <a:ahLst/>
              <a:cxnLst/>
              <a:rect r="r" b="b" t="t" l="l"/>
              <a:pathLst>
                <a:path h="5621018" w="962339">
                  <a:moveTo>
                    <a:pt x="0" y="0"/>
                  </a:moveTo>
                  <a:lnTo>
                    <a:pt x="962339" y="0"/>
                  </a:lnTo>
                  <a:lnTo>
                    <a:pt x="962339" y="5621018"/>
                  </a:lnTo>
                  <a:lnTo>
                    <a:pt x="0" y="5621018"/>
                  </a:lnTo>
                  <a:close/>
                </a:path>
              </a:pathLst>
            </a:custGeom>
            <a:gradFill rotWithShape="true">
              <a:gsLst>
                <a:gs pos="0">
                  <a:srgbClr val="852531">
                    <a:alpha val="100000"/>
                  </a:srgbClr>
                </a:gs>
                <a:gs pos="50000">
                  <a:srgbClr val="852531">
                    <a:alpha val="49500"/>
                  </a:srgbClr>
                </a:gs>
                <a:gs pos="100000">
                  <a:srgbClr val="85253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962339" cy="56591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4" id="14"/>
          <p:cNvSpPr/>
          <p:nvPr/>
        </p:nvSpPr>
        <p:spPr>
          <a:xfrm>
            <a:off x="1028700" y="1166139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5" id="15"/>
          <p:cNvSpPr txBox="true"/>
          <p:nvPr/>
        </p:nvSpPr>
        <p:spPr>
          <a:xfrm rot="0">
            <a:off x="1028700" y="1817433"/>
            <a:ext cx="16230600" cy="148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841"/>
              </a:lnSpc>
            </a:pPr>
            <a:r>
              <a:rPr lang="en-US" sz="12046" spc="-722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EL vs Non-EL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665366"/>
            <a:ext cx="2571016" cy="363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3"/>
              </a:lnSpc>
            </a:pPr>
            <a:r>
              <a:rPr lang="en-US" sz="2195" spc="-11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Miranda Insights LLC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697560" y="663042"/>
            <a:ext cx="2561740" cy="363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073"/>
              </a:lnSpc>
              <a:spcBef>
                <a:spcPct val="0"/>
              </a:spcBef>
            </a:pPr>
            <a:r>
              <a:rPr lang="en-US" sz="2195" spc="-11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March 2026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74443" y="4127304"/>
            <a:ext cx="16539113" cy="5600206"/>
            <a:chOff x="0" y="0"/>
            <a:chExt cx="4355980" cy="147495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355980" cy="1474951"/>
            </a:xfrm>
            <a:custGeom>
              <a:avLst/>
              <a:gdLst/>
              <a:ahLst/>
              <a:cxnLst/>
              <a:rect r="r" b="b" t="t" l="l"/>
              <a:pathLst>
                <a:path h="1474951" w="4355980">
                  <a:moveTo>
                    <a:pt x="30894" y="0"/>
                  </a:moveTo>
                  <a:lnTo>
                    <a:pt x="4325086" y="0"/>
                  </a:lnTo>
                  <a:cubicBezTo>
                    <a:pt x="4333280" y="0"/>
                    <a:pt x="4341138" y="3255"/>
                    <a:pt x="4346932" y="9049"/>
                  </a:cubicBezTo>
                  <a:cubicBezTo>
                    <a:pt x="4352725" y="14843"/>
                    <a:pt x="4355980" y="22701"/>
                    <a:pt x="4355980" y="30894"/>
                  </a:cubicBezTo>
                  <a:lnTo>
                    <a:pt x="4355980" y="1444057"/>
                  </a:lnTo>
                  <a:cubicBezTo>
                    <a:pt x="4355980" y="1452251"/>
                    <a:pt x="4352725" y="1460109"/>
                    <a:pt x="4346932" y="1465903"/>
                  </a:cubicBezTo>
                  <a:cubicBezTo>
                    <a:pt x="4341138" y="1471696"/>
                    <a:pt x="4333280" y="1474951"/>
                    <a:pt x="4325086" y="1474951"/>
                  </a:cubicBezTo>
                  <a:lnTo>
                    <a:pt x="30894" y="1474951"/>
                  </a:lnTo>
                  <a:cubicBezTo>
                    <a:pt x="13832" y="1474951"/>
                    <a:pt x="0" y="1461119"/>
                    <a:pt x="0" y="1444057"/>
                  </a:cubicBezTo>
                  <a:lnTo>
                    <a:pt x="0" y="30894"/>
                  </a:lnTo>
                  <a:cubicBezTo>
                    <a:pt x="0" y="22701"/>
                    <a:pt x="3255" y="14843"/>
                    <a:pt x="9049" y="9049"/>
                  </a:cubicBezTo>
                  <a:cubicBezTo>
                    <a:pt x="14843" y="3255"/>
                    <a:pt x="22701" y="0"/>
                    <a:pt x="3089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8F8F8">
                    <a:alpha val="14500"/>
                  </a:srgbClr>
                </a:gs>
                <a:gs pos="50000">
                  <a:srgbClr val="F8F8F8">
                    <a:alpha val="7000"/>
                  </a:srgbClr>
                </a:gs>
                <a:gs pos="100000">
                  <a:srgbClr val="F8F8F8">
                    <a:alpha val="14500"/>
                  </a:srgbClr>
                </a:gs>
              </a:gsLst>
              <a:lin ang="0"/>
            </a:gra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4355980" cy="15130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2430330" y="3267007"/>
            <a:ext cx="13427339" cy="340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20"/>
              </a:lnSpc>
            </a:pPr>
            <a:r>
              <a:rPr lang="en-US" sz="2000" i="true" spc="-50">
                <a:solidFill>
                  <a:srgbClr val="F6F4F3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Th</a:t>
            </a:r>
            <a:r>
              <a:rPr lang="en-US" sz="2000" i="true" spc="-50">
                <a:solidFill>
                  <a:srgbClr val="F6F4F3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is view compares academic performance patterns between English Learner and non-EL student groups.</a:t>
            </a:r>
          </a:p>
        </p:txBody>
      </p:sp>
      <p:graphicFrame>
        <p:nvGraphicFramePr>
          <p:cNvPr name="Table 22" id="22"/>
          <p:cNvGraphicFramePr>
            <a:graphicFrameLocks noGrp="true"/>
          </p:cNvGraphicFramePr>
          <p:nvPr/>
        </p:nvGraphicFramePr>
        <p:xfrm>
          <a:off x="4435853" y="4364358"/>
          <a:ext cx="8881574" cy="5038725"/>
        </p:xfrm>
        <a:graphic>
          <a:graphicData uri="http://schemas.openxmlformats.org/drawingml/2006/table">
            <a:tbl>
              <a:tblPr/>
              <a:tblGrid>
                <a:gridCol w="1081798"/>
                <a:gridCol w="1133340"/>
                <a:gridCol w="911654"/>
                <a:gridCol w="967935"/>
                <a:gridCol w="1140232"/>
                <a:gridCol w="911654"/>
                <a:gridCol w="911654"/>
                <a:gridCol w="911654"/>
                <a:gridCol w="911654"/>
              </a:tblGrid>
              <a:tr h="100774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0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300"/>
                        </a:lnSpc>
                      </a:pPr>
                      <a:r>
                        <a:rPr lang="en-US" sz="13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EL_flag</a:t>
                      </a:r>
                    </a:p>
                    <a:p>
                      <a:pPr algn="ctr">
                        <a:lnSpc>
                          <a:spcPts val="130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0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300"/>
                        </a:lnSpc>
                      </a:pPr>
                      <a:r>
                        <a:rPr lang="en-US" sz="13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subject</a:t>
                      </a:r>
                    </a:p>
                    <a:p>
                      <a:pPr algn="ctr">
                        <a:lnSpc>
                          <a:spcPts val="130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0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300"/>
                        </a:lnSpc>
                      </a:pPr>
                      <a:r>
                        <a:rPr lang="en-US" sz="13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n</a:t>
                      </a:r>
                    </a:p>
                    <a:p>
                      <a:pPr algn="ctr">
                        <a:lnSpc>
                          <a:spcPts val="130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0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300"/>
                        </a:lnSpc>
                      </a:pPr>
                      <a:r>
                        <a:rPr lang="en-US" sz="13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mean</a:t>
                      </a:r>
                    </a:p>
                    <a:p>
                      <a:pPr algn="ctr">
                        <a:lnSpc>
                          <a:spcPts val="130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0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300"/>
                        </a:lnSpc>
                      </a:pPr>
                      <a:r>
                        <a:rPr lang="en-US" sz="13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median</a:t>
                      </a:r>
                    </a:p>
                    <a:p>
                      <a:pPr algn="ctr">
                        <a:lnSpc>
                          <a:spcPts val="130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0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300"/>
                        </a:lnSpc>
                      </a:pPr>
                      <a:r>
                        <a:rPr lang="en-US" sz="13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q1</a:t>
                      </a:r>
                    </a:p>
                    <a:p>
                      <a:pPr algn="ctr">
                        <a:lnSpc>
                          <a:spcPts val="130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0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300"/>
                        </a:lnSpc>
                      </a:pPr>
                      <a:r>
                        <a:rPr lang="en-US" sz="13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q3</a:t>
                      </a:r>
                    </a:p>
                    <a:p>
                      <a:pPr algn="ctr">
                        <a:lnSpc>
                          <a:spcPts val="130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0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300"/>
                        </a:lnSpc>
                      </a:pPr>
                      <a:r>
                        <a:rPr lang="en-US" sz="13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min</a:t>
                      </a:r>
                    </a:p>
                    <a:p>
                      <a:pPr algn="ctr">
                        <a:lnSpc>
                          <a:spcPts val="130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0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300"/>
                        </a:lnSpc>
                      </a:pPr>
                      <a:r>
                        <a:rPr lang="en-US" sz="13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max</a:t>
                      </a:r>
                    </a:p>
                    <a:p>
                      <a:pPr algn="ctr">
                        <a:lnSpc>
                          <a:spcPts val="130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</a:tr>
              <a:tr h="100774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0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30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EL</a:t>
                      </a:r>
                    </a:p>
                    <a:p>
                      <a:pPr algn="ctr">
                        <a:lnSpc>
                          <a:spcPts val="130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0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30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English</a:t>
                      </a:r>
                    </a:p>
                    <a:p>
                      <a:pPr algn="ctr">
                        <a:lnSpc>
                          <a:spcPts val="130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0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30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18</a:t>
                      </a:r>
                    </a:p>
                    <a:p>
                      <a:pPr algn="ctr">
                        <a:lnSpc>
                          <a:spcPts val="130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0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30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72.22</a:t>
                      </a:r>
                    </a:p>
                    <a:p>
                      <a:pPr algn="ctr">
                        <a:lnSpc>
                          <a:spcPts val="130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0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30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69.5</a:t>
                      </a:r>
                    </a:p>
                    <a:p>
                      <a:pPr algn="ctr">
                        <a:lnSpc>
                          <a:spcPts val="130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0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30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62.25</a:t>
                      </a:r>
                    </a:p>
                    <a:p>
                      <a:pPr algn="ctr">
                        <a:lnSpc>
                          <a:spcPts val="130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0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30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81.25</a:t>
                      </a:r>
                    </a:p>
                    <a:p>
                      <a:pPr algn="ctr">
                        <a:lnSpc>
                          <a:spcPts val="130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0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30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56</a:t>
                      </a:r>
                    </a:p>
                    <a:p>
                      <a:pPr algn="ctr">
                        <a:lnSpc>
                          <a:spcPts val="130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0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30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94</a:t>
                      </a:r>
                    </a:p>
                    <a:p>
                      <a:pPr algn="ctr">
                        <a:lnSpc>
                          <a:spcPts val="130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0774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0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30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EL</a:t>
                      </a:r>
                    </a:p>
                    <a:p>
                      <a:pPr algn="ctr">
                        <a:lnSpc>
                          <a:spcPts val="130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0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30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Math</a:t>
                      </a:r>
                    </a:p>
                    <a:p>
                      <a:pPr algn="ctr">
                        <a:lnSpc>
                          <a:spcPts val="130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0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30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18</a:t>
                      </a:r>
                    </a:p>
                    <a:p>
                      <a:pPr algn="ctr">
                        <a:lnSpc>
                          <a:spcPts val="130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0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30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77.39</a:t>
                      </a:r>
                    </a:p>
                    <a:p>
                      <a:pPr algn="ctr">
                        <a:lnSpc>
                          <a:spcPts val="130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0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30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75.5</a:t>
                      </a:r>
                    </a:p>
                    <a:p>
                      <a:pPr algn="ctr">
                        <a:lnSpc>
                          <a:spcPts val="130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0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30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68.75</a:t>
                      </a:r>
                    </a:p>
                    <a:p>
                      <a:pPr algn="ctr">
                        <a:lnSpc>
                          <a:spcPts val="130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0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30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88</a:t>
                      </a:r>
                    </a:p>
                    <a:p>
                      <a:pPr algn="ctr">
                        <a:lnSpc>
                          <a:spcPts val="130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0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30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56</a:t>
                      </a:r>
                    </a:p>
                    <a:p>
                      <a:pPr algn="ctr">
                        <a:lnSpc>
                          <a:spcPts val="130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0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30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99</a:t>
                      </a:r>
                    </a:p>
                    <a:p>
                      <a:pPr algn="ctr">
                        <a:lnSpc>
                          <a:spcPts val="130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0774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0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30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Non-EL</a:t>
                      </a:r>
                    </a:p>
                    <a:p>
                      <a:pPr algn="ctr">
                        <a:lnSpc>
                          <a:spcPts val="130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0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30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English</a:t>
                      </a:r>
                    </a:p>
                    <a:p>
                      <a:pPr algn="ctr">
                        <a:lnSpc>
                          <a:spcPts val="130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0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30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32</a:t>
                      </a:r>
                    </a:p>
                    <a:p>
                      <a:pPr algn="ctr">
                        <a:lnSpc>
                          <a:spcPts val="130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0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30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76.62</a:t>
                      </a:r>
                    </a:p>
                    <a:p>
                      <a:pPr algn="ctr">
                        <a:lnSpc>
                          <a:spcPts val="130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0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30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77</a:t>
                      </a:r>
                    </a:p>
                    <a:p>
                      <a:pPr algn="ctr">
                        <a:lnSpc>
                          <a:spcPts val="130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0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30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61.75</a:t>
                      </a:r>
                    </a:p>
                    <a:p>
                      <a:pPr algn="ctr">
                        <a:lnSpc>
                          <a:spcPts val="130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0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30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88.25</a:t>
                      </a:r>
                    </a:p>
                    <a:p>
                      <a:pPr algn="ctr">
                        <a:lnSpc>
                          <a:spcPts val="130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0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30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55</a:t>
                      </a:r>
                    </a:p>
                    <a:p>
                      <a:pPr algn="ctr">
                        <a:lnSpc>
                          <a:spcPts val="130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0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30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99</a:t>
                      </a:r>
                    </a:p>
                    <a:p>
                      <a:pPr algn="ctr">
                        <a:lnSpc>
                          <a:spcPts val="130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0774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0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30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Non-EL</a:t>
                      </a:r>
                    </a:p>
                    <a:p>
                      <a:pPr algn="ctr">
                        <a:lnSpc>
                          <a:spcPts val="130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0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30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Math</a:t>
                      </a:r>
                    </a:p>
                    <a:p>
                      <a:pPr algn="ctr">
                        <a:lnSpc>
                          <a:spcPts val="130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0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30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32</a:t>
                      </a:r>
                    </a:p>
                    <a:p>
                      <a:pPr algn="ctr">
                        <a:lnSpc>
                          <a:spcPts val="130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0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30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78.94</a:t>
                      </a:r>
                    </a:p>
                    <a:p>
                      <a:pPr algn="ctr">
                        <a:lnSpc>
                          <a:spcPts val="130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0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30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81.5</a:t>
                      </a:r>
                    </a:p>
                    <a:p>
                      <a:pPr algn="ctr">
                        <a:lnSpc>
                          <a:spcPts val="130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0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30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68.5</a:t>
                      </a:r>
                    </a:p>
                    <a:p>
                      <a:pPr algn="ctr">
                        <a:lnSpc>
                          <a:spcPts val="130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0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30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91</a:t>
                      </a:r>
                    </a:p>
                    <a:p>
                      <a:pPr algn="ctr">
                        <a:lnSpc>
                          <a:spcPts val="130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0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30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55</a:t>
                      </a:r>
                    </a:p>
                    <a:p>
                      <a:pPr algn="ctr">
                        <a:lnSpc>
                          <a:spcPts val="130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0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30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100</a:t>
                      </a:r>
                    </a:p>
                    <a:p>
                      <a:pPr algn="ctr">
                        <a:lnSpc>
                          <a:spcPts val="130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1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13130" y="-375629"/>
            <a:ext cx="19705935" cy="11396222"/>
            <a:chOff x="0" y="0"/>
            <a:chExt cx="26274580" cy="15194962"/>
          </a:xfrm>
        </p:grpSpPr>
        <p:sp>
          <p:nvSpPr>
            <p:cNvPr name="AutoShape 3" id="3"/>
            <p:cNvSpPr/>
            <p:nvPr/>
          </p:nvSpPr>
          <p:spPr>
            <a:xfrm flipH="true" flipV="true">
              <a:off x="2143320" y="0"/>
              <a:ext cx="0" cy="15194962"/>
            </a:xfrm>
            <a:prstGeom prst="line">
              <a:avLst/>
            </a:prstGeom>
            <a:ln cap="flat" w="12700">
              <a:solidFill>
                <a:srgbClr val="FFFFFF">
                  <a:alpha val="4706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" id="4"/>
            <p:cNvSpPr/>
            <p:nvPr/>
          </p:nvSpPr>
          <p:spPr>
            <a:xfrm flipH="true">
              <a:off x="0" y="3862444"/>
              <a:ext cx="26274580" cy="0"/>
            </a:xfrm>
            <a:prstGeom prst="line">
              <a:avLst/>
            </a:prstGeom>
            <a:ln cap="flat" w="12700">
              <a:solidFill>
                <a:srgbClr val="FFFFFF">
                  <a:alpha val="4706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" id="5"/>
            <p:cNvSpPr/>
            <p:nvPr/>
          </p:nvSpPr>
          <p:spPr>
            <a:xfrm flipH="true" flipV="true">
              <a:off x="9352687" y="0"/>
              <a:ext cx="0" cy="15194962"/>
            </a:xfrm>
            <a:prstGeom prst="line">
              <a:avLst/>
            </a:prstGeom>
            <a:ln cap="flat" w="12700">
              <a:solidFill>
                <a:srgbClr val="FFFFFF">
                  <a:alpha val="4706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" id="6"/>
            <p:cNvSpPr/>
            <p:nvPr/>
          </p:nvSpPr>
          <p:spPr>
            <a:xfrm flipH="true" flipV="true">
              <a:off x="23771420" y="0"/>
              <a:ext cx="0" cy="15194962"/>
            </a:xfrm>
            <a:prstGeom prst="line">
              <a:avLst/>
            </a:prstGeom>
            <a:ln cap="flat" w="12700">
              <a:solidFill>
                <a:srgbClr val="FFFFFF">
                  <a:alpha val="4706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" id="7"/>
            <p:cNvSpPr/>
            <p:nvPr/>
          </p:nvSpPr>
          <p:spPr>
            <a:xfrm flipH="true" flipV="true">
              <a:off x="16562053" y="0"/>
              <a:ext cx="0" cy="15194962"/>
            </a:xfrm>
            <a:prstGeom prst="line">
              <a:avLst/>
            </a:prstGeom>
            <a:ln cap="flat" w="12700">
              <a:solidFill>
                <a:srgbClr val="FFFFFF">
                  <a:alpha val="4706"/>
                </a:srgbClr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8" id="8"/>
          <p:cNvGrpSpPr/>
          <p:nvPr/>
        </p:nvGrpSpPr>
        <p:grpSpPr>
          <a:xfrm rot="5400000">
            <a:off x="7571123" y="-10005917"/>
            <a:ext cx="3145753" cy="21342304"/>
            <a:chOff x="0" y="0"/>
            <a:chExt cx="828511" cy="562101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28511" cy="5621018"/>
            </a:xfrm>
            <a:custGeom>
              <a:avLst/>
              <a:gdLst/>
              <a:ahLst/>
              <a:cxnLst/>
              <a:rect r="r" b="b" t="t" l="l"/>
              <a:pathLst>
                <a:path h="5621018" w="828511">
                  <a:moveTo>
                    <a:pt x="0" y="0"/>
                  </a:moveTo>
                  <a:lnTo>
                    <a:pt x="828511" y="0"/>
                  </a:lnTo>
                  <a:lnTo>
                    <a:pt x="828511" y="5621018"/>
                  </a:lnTo>
                  <a:lnTo>
                    <a:pt x="0" y="5621018"/>
                  </a:lnTo>
                  <a:close/>
                </a:path>
              </a:pathLst>
            </a:custGeom>
            <a:gradFill rotWithShape="true">
              <a:gsLst>
                <a:gs pos="0">
                  <a:srgbClr val="852531">
                    <a:alpha val="100000"/>
                  </a:srgbClr>
                </a:gs>
                <a:gs pos="50000">
                  <a:srgbClr val="852531">
                    <a:alpha val="49500"/>
                  </a:srgbClr>
                </a:gs>
                <a:gs pos="100000">
                  <a:srgbClr val="85253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828511" cy="56591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5400000">
            <a:off x="7317059" y="-795323"/>
            <a:ext cx="3653882" cy="21342304"/>
            <a:chOff x="0" y="0"/>
            <a:chExt cx="962339" cy="562101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62339" cy="5621018"/>
            </a:xfrm>
            <a:custGeom>
              <a:avLst/>
              <a:gdLst/>
              <a:ahLst/>
              <a:cxnLst/>
              <a:rect r="r" b="b" t="t" l="l"/>
              <a:pathLst>
                <a:path h="5621018" w="962339">
                  <a:moveTo>
                    <a:pt x="0" y="0"/>
                  </a:moveTo>
                  <a:lnTo>
                    <a:pt x="962339" y="0"/>
                  </a:lnTo>
                  <a:lnTo>
                    <a:pt x="962339" y="5621018"/>
                  </a:lnTo>
                  <a:lnTo>
                    <a:pt x="0" y="5621018"/>
                  </a:lnTo>
                  <a:close/>
                </a:path>
              </a:pathLst>
            </a:custGeom>
            <a:gradFill rotWithShape="true">
              <a:gsLst>
                <a:gs pos="0">
                  <a:srgbClr val="852531">
                    <a:alpha val="100000"/>
                  </a:srgbClr>
                </a:gs>
                <a:gs pos="50000">
                  <a:srgbClr val="852531">
                    <a:alpha val="49500"/>
                  </a:srgbClr>
                </a:gs>
                <a:gs pos="100000">
                  <a:srgbClr val="85253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962339" cy="56591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4" id="14"/>
          <p:cNvSpPr/>
          <p:nvPr/>
        </p:nvSpPr>
        <p:spPr>
          <a:xfrm>
            <a:off x="1028700" y="1166139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5" id="15"/>
          <p:cNvGrpSpPr/>
          <p:nvPr/>
        </p:nvGrpSpPr>
        <p:grpSpPr>
          <a:xfrm rot="0">
            <a:off x="874443" y="4127304"/>
            <a:ext cx="16539113" cy="5600206"/>
            <a:chOff x="0" y="0"/>
            <a:chExt cx="4355980" cy="147495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355980" cy="1474951"/>
            </a:xfrm>
            <a:custGeom>
              <a:avLst/>
              <a:gdLst/>
              <a:ahLst/>
              <a:cxnLst/>
              <a:rect r="r" b="b" t="t" l="l"/>
              <a:pathLst>
                <a:path h="1474951" w="4355980">
                  <a:moveTo>
                    <a:pt x="30894" y="0"/>
                  </a:moveTo>
                  <a:lnTo>
                    <a:pt x="4325086" y="0"/>
                  </a:lnTo>
                  <a:cubicBezTo>
                    <a:pt x="4333280" y="0"/>
                    <a:pt x="4341138" y="3255"/>
                    <a:pt x="4346932" y="9049"/>
                  </a:cubicBezTo>
                  <a:cubicBezTo>
                    <a:pt x="4352725" y="14843"/>
                    <a:pt x="4355980" y="22701"/>
                    <a:pt x="4355980" y="30894"/>
                  </a:cubicBezTo>
                  <a:lnTo>
                    <a:pt x="4355980" y="1444057"/>
                  </a:lnTo>
                  <a:cubicBezTo>
                    <a:pt x="4355980" y="1452251"/>
                    <a:pt x="4352725" y="1460109"/>
                    <a:pt x="4346932" y="1465903"/>
                  </a:cubicBezTo>
                  <a:cubicBezTo>
                    <a:pt x="4341138" y="1471696"/>
                    <a:pt x="4333280" y="1474951"/>
                    <a:pt x="4325086" y="1474951"/>
                  </a:cubicBezTo>
                  <a:lnTo>
                    <a:pt x="30894" y="1474951"/>
                  </a:lnTo>
                  <a:cubicBezTo>
                    <a:pt x="13832" y="1474951"/>
                    <a:pt x="0" y="1461119"/>
                    <a:pt x="0" y="1444057"/>
                  </a:cubicBezTo>
                  <a:lnTo>
                    <a:pt x="0" y="30894"/>
                  </a:lnTo>
                  <a:cubicBezTo>
                    <a:pt x="0" y="22701"/>
                    <a:pt x="3255" y="14843"/>
                    <a:pt x="9049" y="9049"/>
                  </a:cubicBezTo>
                  <a:cubicBezTo>
                    <a:pt x="14843" y="3255"/>
                    <a:pt x="22701" y="0"/>
                    <a:pt x="3089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8F8F8">
                    <a:alpha val="14500"/>
                  </a:srgbClr>
                </a:gs>
                <a:gs pos="50000">
                  <a:srgbClr val="F8F8F8">
                    <a:alpha val="7000"/>
                  </a:srgbClr>
                </a:gs>
                <a:gs pos="100000">
                  <a:srgbClr val="F8F8F8">
                    <a:alpha val="14500"/>
                  </a:srgbClr>
                </a:gs>
              </a:gsLst>
              <a:lin ang="0"/>
            </a:gra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4355980" cy="15130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028700" y="4443457"/>
            <a:ext cx="8009956" cy="4805974"/>
          </a:xfrm>
          <a:custGeom>
            <a:avLst/>
            <a:gdLst/>
            <a:ahLst/>
            <a:cxnLst/>
            <a:rect r="r" b="b" t="t" l="l"/>
            <a:pathLst>
              <a:path h="4805974" w="8009956">
                <a:moveTo>
                  <a:pt x="0" y="0"/>
                </a:moveTo>
                <a:lnTo>
                  <a:pt x="8009956" y="0"/>
                </a:lnTo>
                <a:lnTo>
                  <a:pt x="8009956" y="4805974"/>
                </a:lnTo>
                <a:lnTo>
                  <a:pt x="0" y="48059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9303416" y="4443457"/>
            <a:ext cx="7955884" cy="4773530"/>
          </a:xfrm>
          <a:custGeom>
            <a:avLst/>
            <a:gdLst/>
            <a:ahLst/>
            <a:cxnLst/>
            <a:rect r="r" b="b" t="t" l="l"/>
            <a:pathLst>
              <a:path h="4773530" w="7955884">
                <a:moveTo>
                  <a:pt x="0" y="0"/>
                </a:moveTo>
                <a:lnTo>
                  <a:pt x="7955884" y="0"/>
                </a:lnTo>
                <a:lnTo>
                  <a:pt x="7955884" y="4773531"/>
                </a:lnTo>
                <a:lnTo>
                  <a:pt x="0" y="47735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028700" y="1817433"/>
            <a:ext cx="16230600" cy="148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841"/>
              </a:lnSpc>
            </a:pPr>
            <a:r>
              <a:rPr lang="en-US" sz="12046" spc="-722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SPED vs Non-Sped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28700" y="665366"/>
            <a:ext cx="2571016" cy="363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3"/>
              </a:lnSpc>
            </a:pPr>
            <a:r>
              <a:rPr lang="en-US" sz="2195" spc="-11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Miranda Insights LLC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697560" y="663042"/>
            <a:ext cx="2561740" cy="363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073"/>
              </a:lnSpc>
              <a:spcBef>
                <a:spcPct val="0"/>
              </a:spcBef>
            </a:pPr>
            <a:r>
              <a:rPr lang="en-US" sz="2195" spc="-11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March 2026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430330" y="3267007"/>
            <a:ext cx="13427339" cy="683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20"/>
              </a:lnSpc>
            </a:pPr>
            <a:r>
              <a:rPr lang="en-US" sz="2000" i="true" spc="-50">
                <a:solidFill>
                  <a:srgbClr val="F6F4F3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Th</a:t>
            </a:r>
            <a:r>
              <a:rPr lang="en-US" sz="2000" i="true" spc="-50">
                <a:solidFill>
                  <a:srgbClr val="F6F4F3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is view compares academic performance and attendance patterns between English Learner and non-EL student groups.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191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13130" y="-375629"/>
            <a:ext cx="19705935" cy="11396222"/>
            <a:chOff x="0" y="0"/>
            <a:chExt cx="26274580" cy="15194962"/>
          </a:xfrm>
        </p:grpSpPr>
        <p:sp>
          <p:nvSpPr>
            <p:cNvPr name="AutoShape 3" id="3"/>
            <p:cNvSpPr/>
            <p:nvPr/>
          </p:nvSpPr>
          <p:spPr>
            <a:xfrm flipH="true" flipV="true">
              <a:off x="2143320" y="0"/>
              <a:ext cx="0" cy="15194962"/>
            </a:xfrm>
            <a:prstGeom prst="line">
              <a:avLst/>
            </a:prstGeom>
            <a:ln cap="flat" w="12700">
              <a:solidFill>
                <a:srgbClr val="FFFFFF">
                  <a:alpha val="4706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" id="4"/>
            <p:cNvSpPr/>
            <p:nvPr/>
          </p:nvSpPr>
          <p:spPr>
            <a:xfrm flipH="true">
              <a:off x="0" y="3862444"/>
              <a:ext cx="26274580" cy="0"/>
            </a:xfrm>
            <a:prstGeom prst="line">
              <a:avLst/>
            </a:prstGeom>
            <a:ln cap="flat" w="12700">
              <a:solidFill>
                <a:srgbClr val="FFFFFF">
                  <a:alpha val="4706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" id="5"/>
            <p:cNvSpPr/>
            <p:nvPr/>
          </p:nvSpPr>
          <p:spPr>
            <a:xfrm flipH="true" flipV="true">
              <a:off x="9352687" y="0"/>
              <a:ext cx="0" cy="15194962"/>
            </a:xfrm>
            <a:prstGeom prst="line">
              <a:avLst/>
            </a:prstGeom>
            <a:ln cap="flat" w="12700">
              <a:solidFill>
                <a:srgbClr val="FFFFFF">
                  <a:alpha val="4706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" id="6"/>
            <p:cNvSpPr/>
            <p:nvPr/>
          </p:nvSpPr>
          <p:spPr>
            <a:xfrm flipH="true" flipV="true">
              <a:off x="23771420" y="0"/>
              <a:ext cx="0" cy="15194962"/>
            </a:xfrm>
            <a:prstGeom prst="line">
              <a:avLst/>
            </a:prstGeom>
            <a:ln cap="flat" w="12700">
              <a:solidFill>
                <a:srgbClr val="FFFFFF">
                  <a:alpha val="4706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" id="7"/>
            <p:cNvSpPr/>
            <p:nvPr/>
          </p:nvSpPr>
          <p:spPr>
            <a:xfrm flipH="true" flipV="true">
              <a:off x="16562053" y="0"/>
              <a:ext cx="0" cy="15194962"/>
            </a:xfrm>
            <a:prstGeom prst="line">
              <a:avLst/>
            </a:prstGeom>
            <a:ln cap="flat" w="12700">
              <a:solidFill>
                <a:srgbClr val="FFFFFF">
                  <a:alpha val="4706"/>
                </a:srgbClr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8" id="8"/>
          <p:cNvGrpSpPr/>
          <p:nvPr/>
        </p:nvGrpSpPr>
        <p:grpSpPr>
          <a:xfrm rot="5400000">
            <a:off x="7571123" y="-10005917"/>
            <a:ext cx="3145753" cy="21342304"/>
            <a:chOff x="0" y="0"/>
            <a:chExt cx="828511" cy="562101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28511" cy="5621018"/>
            </a:xfrm>
            <a:custGeom>
              <a:avLst/>
              <a:gdLst/>
              <a:ahLst/>
              <a:cxnLst/>
              <a:rect r="r" b="b" t="t" l="l"/>
              <a:pathLst>
                <a:path h="5621018" w="828511">
                  <a:moveTo>
                    <a:pt x="0" y="0"/>
                  </a:moveTo>
                  <a:lnTo>
                    <a:pt x="828511" y="0"/>
                  </a:lnTo>
                  <a:lnTo>
                    <a:pt x="828511" y="5621018"/>
                  </a:lnTo>
                  <a:lnTo>
                    <a:pt x="0" y="5621018"/>
                  </a:lnTo>
                  <a:close/>
                </a:path>
              </a:pathLst>
            </a:custGeom>
            <a:gradFill rotWithShape="true">
              <a:gsLst>
                <a:gs pos="0">
                  <a:srgbClr val="852531">
                    <a:alpha val="100000"/>
                  </a:srgbClr>
                </a:gs>
                <a:gs pos="50000">
                  <a:srgbClr val="852531">
                    <a:alpha val="49500"/>
                  </a:srgbClr>
                </a:gs>
                <a:gs pos="100000">
                  <a:srgbClr val="85253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828511" cy="56591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5400000">
            <a:off x="7317059" y="-795323"/>
            <a:ext cx="3653882" cy="21342304"/>
            <a:chOff x="0" y="0"/>
            <a:chExt cx="962339" cy="562101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62339" cy="5621018"/>
            </a:xfrm>
            <a:custGeom>
              <a:avLst/>
              <a:gdLst/>
              <a:ahLst/>
              <a:cxnLst/>
              <a:rect r="r" b="b" t="t" l="l"/>
              <a:pathLst>
                <a:path h="5621018" w="962339">
                  <a:moveTo>
                    <a:pt x="0" y="0"/>
                  </a:moveTo>
                  <a:lnTo>
                    <a:pt x="962339" y="0"/>
                  </a:lnTo>
                  <a:lnTo>
                    <a:pt x="962339" y="5621018"/>
                  </a:lnTo>
                  <a:lnTo>
                    <a:pt x="0" y="5621018"/>
                  </a:lnTo>
                  <a:close/>
                </a:path>
              </a:pathLst>
            </a:custGeom>
            <a:gradFill rotWithShape="true">
              <a:gsLst>
                <a:gs pos="0">
                  <a:srgbClr val="852531">
                    <a:alpha val="100000"/>
                  </a:srgbClr>
                </a:gs>
                <a:gs pos="50000">
                  <a:srgbClr val="852531">
                    <a:alpha val="49500"/>
                  </a:srgbClr>
                </a:gs>
                <a:gs pos="100000">
                  <a:srgbClr val="85253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962339" cy="56591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4" id="14"/>
          <p:cNvSpPr/>
          <p:nvPr/>
        </p:nvSpPr>
        <p:spPr>
          <a:xfrm>
            <a:off x="1028700" y="1166139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5" id="15"/>
          <p:cNvGrpSpPr/>
          <p:nvPr/>
        </p:nvGrpSpPr>
        <p:grpSpPr>
          <a:xfrm rot="0">
            <a:off x="874443" y="4083617"/>
            <a:ext cx="16539113" cy="5600206"/>
            <a:chOff x="0" y="0"/>
            <a:chExt cx="4355980" cy="147495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355980" cy="1474951"/>
            </a:xfrm>
            <a:custGeom>
              <a:avLst/>
              <a:gdLst/>
              <a:ahLst/>
              <a:cxnLst/>
              <a:rect r="r" b="b" t="t" l="l"/>
              <a:pathLst>
                <a:path h="1474951" w="4355980">
                  <a:moveTo>
                    <a:pt x="30894" y="0"/>
                  </a:moveTo>
                  <a:lnTo>
                    <a:pt x="4325086" y="0"/>
                  </a:lnTo>
                  <a:cubicBezTo>
                    <a:pt x="4333280" y="0"/>
                    <a:pt x="4341138" y="3255"/>
                    <a:pt x="4346932" y="9049"/>
                  </a:cubicBezTo>
                  <a:cubicBezTo>
                    <a:pt x="4352725" y="14843"/>
                    <a:pt x="4355980" y="22701"/>
                    <a:pt x="4355980" y="30894"/>
                  </a:cubicBezTo>
                  <a:lnTo>
                    <a:pt x="4355980" y="1444057"/>
                  </a:lnTo>
                  <a:cubicBezTo>
                    <a:pt x="4355980" y="1452251"/>
                    <a:pt x="4352725" y="1460109"/>
                    <a:pt x="4346932" y="1465903"/>
                  </a:cubicBezTo>
                  <a:cubicBezTo>
                    <a:pt x="4341138" y="1471696"/>
                    <a:pt x="4333280" y="1474951"/>
                    <a:pt x="4325086" y="1474951"/>
                  </a:cubicBezTo>
                  <a:lnTo>
                    <a:pt x="30894" y="1474951"/>
                  </a:lnTo>
                  <a:cubicBezTo>
                    <a:pt x="13832" y="1474951"/>
                    <a:pt x="0" y="1461119"/>
                    <a:pt x="0" y="1444057"/>
                  </a:cubicBezTo>
                  <a:lnTo>
                    <a:pt x="0" y="30894"/>
                  </a:lnTo>
                  <a:cubicBezTo>
                    <a:pt x="0" y="22701"/>
                    <a:pt x="3255" y="14843"/>
                    <a:pt x="9049" y="9049"/>
                  </a:cubicBezTo>
                  <a:cubicBezTo>
                    <a:pt x="14843" y="3255"/>
                    <a:pt x="22701" y="0"/>
                    <a:pt x="3089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8F8F8">
                    <a:alpha val="14500"/>
                  </a:srgbClr>
                </a:gs>
                <a:gs pos="50000">
                  <a:srgbClr val="F8F8F8">
                    <a:alpha val="7000"/>
                  </a:srgbClr>
                </a:gs>
                <a:gs pos="100000">
                  <a:srgbClr val="F8F8F8">
                    <a:alpha val="14500"/>
                  </a:srgbClr>
                </a:gs>
              </a:gsLst>
              <a:lin ang="0"/>
            </a:gra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4355980" cy="15130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aphicFrame>
        <p:nvGraphicFramePr>
          <p:cNvPr name="Table 18" id="18"/>
          <p:cNvGraphicFramePr>
            <a:graphicFrameLocks noGrp="true"/>
          </p:cNvGraphicFramePr>
          <p:nvPr/>
        </p:nvGraphicFramePr>
        <p:xfrm>
          <a:off x="4435853" y="4364358"/>
          <a:ext cx="8881574" cy="5038725"/>
        </p:xfrm>
        <a:graphic>
          <a:graphicData uri="http://schemas.openxmlformats.org/drawingml/2006/table">
            <a:tbl>
              <a:tblPr/>
              <a:tblGrid>
                <a:gridCol w="1081798"/>
                <a:gridCol w="1133340"/>
                <a:gridCol w="911654"/>
                <a:gridCol w="967935"/>
                <a:gridCol w="1140232"/>
                <a:gridCol w="911654"/>
                <a:gridCol w="911654"/>
                <a:gridCol w="911654"/>
                <a:gridCol w="911654"/>
              </a:tblGrid>
              <a:tr h="100774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00"/>
                        </a:lnSpc>
                        <a:defRPr/>
                      </a:pPr>
                      <a:r>
                        <a:rPr lang="en-US" sz="13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sped_flag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0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300"/>
                        </a:lnSpc>
                      </a:pPr>
                      <a:r>
                        <a:rPr lang="en-US" sz="13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subject</a:t>
                      </a:r>
                    </a:p>
                    <a:p>
                      <a:pPr algn="ctr">
                        <a:lnSpc>
                          <a:spcPts val="130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0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300"/>
                        </a:lnSpc>
                      </a:pPr>
                      <a:r>
                        <a:rPr lang="en-US" sz="13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n</a:t>
                      </a:r>
                    </a:p>
                    <a:p>
                      <a:pPr algn="ctr">
                        <a:lnSpc>
                          <a:spcPts val="130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0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300"/>
                        </a:lnSpc>
                      </a:pPr>
                      <a:r>
                        <a:rPr lang="en-US" sz="13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mean</a:t>
                      </a:r>
                    </a:p>
                    <a:p>
                      <a:pPr algn="ctr">
                        <a:lnSpc>
                          <a:spcPts val="130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0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300"/>
                        </a:lnSpc>
                      </a:pPr>
                      <a:r>
                        <a:rPr lang="en-US" sz="13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median</a:t>
                      </a:r>
                    </a:p>
                    <a:p>
                      <a:pPr algn="ctr">
                        <a:lnSpc>
                          <a:spcPts val="130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0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300"/>
                        </a:lnSpc>
                      </a:pPr>
                      <a:r>
                        <a:rPr lang="en-US" sz="13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q1</a:t>
                      </a:r>
                    </a:p>
                    <a:p>
                      <a:pPr algn="ctr">
                        <a:lnSpc>
                          <a:spcPts val="130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0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300"/>
                        </a:lnSpc>
                      </a:pPr>
                      <a:r>
                        <a:rPr lang="en-US" sz="13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q3</a:t>
                      </a:r>
                    </a:p>
                    <a:p>
                      <a:pPr algn="ctr">
                        <a:lnSpc>
                          <a:spcPts val="130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0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300"/>
                        </a:lnSpc>
                      </a:pPr>
                      <a:r>
                        <a:rPr lang="en-US" sz="13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min</a:t>
                      </a:r>
                    </a:p>
                    <a:p>
                      <a:pPr algn="ctr">
                        <a:lnSpc>
                          <a:spcPts val="130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0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300"/>
                        </a:lnSpc>
                      </a:pPr>
                      <a:r>
                        <a:rPr lang="en-US" sz="13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max</a:t>
                      </a:r>
                    </a:p>
                    <a:p>
                      <a:pPr algn="ctr">
                        <a:lnSpc>
                          <a:spcPts val="130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</a:tr>
              <a:tr h="100774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00"/>
                        </a:lnSpc>
                        <a:defRPr/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Non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0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30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English</a:t>
                      </a:r>
                    </a:p>
                    <a:p>
                      <a:pPr algn="ctr">
                        <a:lnSpc>
                          <a:spcPts val="130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0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30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39</a:t>
                      </a:r>
                    </a:p>
                    <a:p>
                      <a:pPr algn="ctr">
                        <a:lnSpc>
                          <a:spcPts val="130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0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30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75.44</a:t>
                      </a:r>
                    </a:p>
                    <a:p>
                      <a:pPr algn="ctr">
                        <a:lnSpc>
                          <a:spcPts val="130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0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30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76</a:t>
                      </a:r>
                    </a:p>
                    <a:p>
                      <a:pPr algn="ctr">
                        <a:lnSpc>
                          <a:spcPts val="130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0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30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62.5</a:t>
                      </a:r>
                    </a:p>
                    <a:p>
                      <a:pPr algn="ctr">
                        <a:lnSpc>
                          <a:spcPts val="130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0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30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87</a:t>
                      </a:r>
                    </a:p>
                    <a:p>
                      <a:pPr algn="ctr">
                        <a:lnSpc>
                          <a:spcPts val="130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0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30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56</a:t>
                      </a:r>
                    </a:p>
                    <a:p>
                      <a:pPr algn="ctr">
                        <a:lnSpc>
                          <a:spcPts val="130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0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30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99</a:t>
                      </a:r>
                    </a:p>
                    <a:p>
                      <a:pPr algn="ctr">
                        <a:lnSpc>
                          <a:spcPts val="130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0774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00"/>
                        </a:lnSpc>
                        <a:defRPr/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Non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0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30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Math</a:t>
                      </a:r>
                    </a:p>
                    <a:p>
                      <a:pPr algn="ctr">
                        <a:lnSpc>
                          <a:spcPts val="130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0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30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39</a:t>
                      </a:r>
                    </a:p>
                    <a:p>
                      <a:pPr algn="ctr">
                        <a:lnSpc>
                          <a:spcPts val="130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0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30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78.87</a:t>
                      </a:r>
                    </a:p>
                    <a:p>
                      <a:pPr algn="ctr">
                        <a:lnSpc>
                          <a:spcPts val="130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0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30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79</a:t>
                      </a:r>
                    </a:p>
                    <a:p>
                      <a:pPr algn="ctr">
                        <a:lnSpc>
                          <a:spcPts val="130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0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30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69</a:t>
                      </a:r>
                    </a:p>
                    <a:p>
                      <a:pPr algn="ctr">
                        <a:lnSpc>
                          <a:spcPts val="130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0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30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90.5</a:t>
                      </a:r>
                    </a:p>
                    <a:p>
                      <a:pPr algn="ctr">
                        <a:lnSpc>
                          <a:spcPts val="130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0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30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55</a:t>
                      </a:r>
                    </a:p>
                    <a:p>
                      <a:pPr algn="ctr">
                        <a:lnSpc>
                          <a:spcPts val="130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0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30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100</a:t>
                      </a:r>
                    </a:p>
                    <a:p>
                      <a:pPr algn="ctr">
                        <a:lnSpc>
                          <a:spcPts val="130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0774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0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30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SPED</a:t>
                      </a:r>
                    </a:p>
                    <a:p>
                      <a:pPr algn="ctr">
                        <a:lnSpc>
                          <a:spcPts val="130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0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30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English</a:t>
                      </a:r>
                    </a:p>
                    <a:p>
                      <a:pPr algn="ctr">
                        <a:lnSpc>
                          <a:spcPts val="130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0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30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11</a:t>
                      </a:r>
                    </a:p>
                    <a:p>
                      <a:pPr algn="ctr">
                        <a:lnSpc>
                          <a:spcPts val="130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0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30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73.64</a:t>
                      </a:r>
                    </a:p>
                    <a:p>
                      <a:pPr algn="ctr">
                        <a:lnSpc>
                          <a:spcPts val="130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0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30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73</a:t>
                      </a:r>
                    </a:p>
                    <a:p>
                      <a:pPr algn="ctr">
                        <a:lnSpc>
                          <a:spcPts val="130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0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30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59.5</a:t>
                      </a:r>
                    </a:p>
                    <a:p>
                      <a:pPr algn="ctr">
                        <a:lnSpc>
                          <a:spcPts val="130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0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30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84</a:t>
                      </a:r>
                    </a:p>
                    <a:p>
                      <a:pPr algn="ctr">
                        <a:lnSpc>
                          <a:spcPts val="130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0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30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55</a:t>
                      </a:r>
                    </a:p>
                    <a:p>
                      <a:pPr algn="ctr">
                        <a:lnSpc>
                          <a:spcPts val="130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0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30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98</a:t>
                      </a:r>
                    </a:p>
                    <a:p>
                      <a:pPr algn="ctr">
                        <a:lnSpc>
                          <a:spcPts val="130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0774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0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30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SPED</a:t>
                      </a:r>
                    </a:p>
                    <a:p>
                      <a:pPr algn="ctr">
                        <a:lnSpc>
                          <a:spcPts val="130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0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30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Math</a:t>
                      </a:r>
                    </a:p>
                    <a:p>
                      <a:pPr algn="ctr">
                        <a:lnSpc>
                          <a:spcPts val="130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0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30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11</a:t>
                      </a:r>
                    </a:p>
                    <a:p>
                      <a:pPr algn="ctr">
                        <a:lnSpc>
                          <a:spcPts val="130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0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30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76.64</a:t>
                      </a:r>
                    </a:p>
                    <a:p>
                      <a:pPr algn="ctr">
                        <a:lnSpc>
                          <a:spcPts val="130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0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30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80</a:t>
                      </a:r>
                    </a:p>
                    <a:p>
                      <a:pPr algn="ctr">
                        <a:lnSpc>
                          <a:spcPts val="130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0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30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66</a:t>
                      </a:r>
                    </a:p>
                    <a:p>
                      <a:pPr algn="ctr">
                        <a:lnSpc>
                          <a:spcPts val="130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0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30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87</a:t>
                      </a:r>
                    </a:p>
                    <a:p>
                      <a:pPr algn="ctr">
                        <a:lnSpc>
                          <a:spcPts val="130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0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30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56</a:t>
                      </a:r>
                    </a:p>
                    <a:p>
                      <a:pPr algn="ctr">
                        <a:lnSpc>
                          <a:spcPts val="130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30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130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91</a:t>
                      </a:r>
                    </a:p>
                    <a:p>
                      <a:pPr algn="ctr">
                        <a:lnSpc>
                          <a:spcPts val="130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19" id="19"/>
          <p:cNvSpPr txBox="true"/>
          <p:nvPr/>
        </p:nvSpPr>
        <p:spPr>
          <a:xfrm rot="0">
            <a:off x="1028700" y="1817433"/>
            <a:ext cx="16230600" cy="148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841"/>
              </a:lnSpc>
            </a:pPr>
            <a:r>
              <a:rPr lang="en-US" sz="12046" spc="-722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SPED vs Non-Sped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8700" y="665366"/>
            <a:ext cx="2571016" cy="363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3"/>
              </a:lnSpc>
            </a:pPr>
            <a:r>
              <a:rPr lang="en-US" sz="2195" spc="-11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Miranda Insights LLC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697560" y="663042"/>
            <a:ext cx="2561740" cy="363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073"/>
              </a:lnSpc>
              <a:spcBef>
                <a:spcPct val="0"/>
              </a:spcBef>
            </a:pPr>
            <a:r>
              <a:rPr lang="en-US" sz="2195" spc="-11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March 2026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430330" y="3267007"/>
            <a:ext cx="13427339" cy="340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20"/>
              </a:lnSpc>
            </a:pPr>
            <a:r>
              <a:rPr lang="en-US" sz="2000" i="true" spc="-50">
                <a:solidFill>
                  <a:srgbClr val="F6F4F3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Th</a:t>
            </a:r>
            <a:r>
              <a:rPr lang="en-US" sz="2000" i="true" spc="-50">
                <a:solidFill>
                  <a:srgbClr val="F6F4F3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is view compares academic performance patterns between English Learner and non-EL student groups.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1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13130" y="-375629"/>
            <a:ext cx="19705935" cy="11396222"/>
            <a:chOff x="0" y="0"/>
            <a:chExt cx="26274580" cy="15194962"/>
          </a:xfrm>
        </p:grpSpPr>
        <p:sp>
          <p:nvSpPr>
            <p:cNvPr name="AutoShape 3" id="3"/>
            <p:cNvSpPr/>
            <p:nvPr/>
          </p:nvSpPr>
          <p:spPr>
            <a:xfrm flipH="true" flipV="true">
              <a:off x="2143320" y="0"/>
              <a:ext cx="0" cy="15194962"/>
            </a:xfrm>
            <a:prstGeom prst="line">
              <a:avLst/>
            </a:prstGeom>
            <a:ln cap="flat" w="12700">
              <a:solidFill>
                <a:srgbClr val="FFFFFF">
                  <a:alpha val="4706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" id="4"/>
            <p:cNvSpPr/>
            <p:nvPr/>
          </p:nvSpPr>
          <p:spPr>
            <a:xfrm flipH="true">
              <a:off x="0" y="3862444"/>
              <a:ext cx="26274580" cy="0"/>
            </a:xfrm>
            <a:prstGeom prst="line">
              <a:avLst/>
            </a:prstGeom>
            <a:ln cap="flat" w="12700">
              <a:solidFill>
                <a:srgbClr val="FFFFFF">
                  <a:alpha val="4706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" id="5"/>
            <p:cNvSpPr/>
            <p:nvPr/>
          </p:nvSpPr>
          <p:spPr>
            <a:xfrm flipH="true" flipV="true">
              <a:off x="9352687" y="0"/>
              <a:ext cx="0" cy="15194962"/>
            </a:xfrm>
            <a:prstGeom prst="line">
              <a:avLst/>
            </a:prstGeom>
            <a:ln cap="flat" w="12700">
              <a:solidFill>
                <a:srgbClr val="FFFFFF">
                  <a:alpha val="4706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" id="6"/>
            <p:cNvSpPr/>
            <p:nvPr/>
          </p:nvSpPr>
          <p:spPr>
            <a:xfrm flipH="true" flipV="true">
              <a:off x="23771420" y="0"/>
              <a:ext cx="0" cy="15194962"/>
            </a:xfrm>
            <a:prstGeom prst="line">
              <a:avLst/>
            </a:prstGeom>
            <a:ln cap="flat" w="12700">
              <a:solidFill>
                <a:srgbClr val="FFFFFF">
                  <a:alpha val="4706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" id="7"/>
            <p:cNvSpPr/>
            <p:nvPr/>
          </p:nvSpPr>
          <p:spPr>
            <a:xfrm flipH="true" flipV="true">
              <a:off x="16562053" y="0"/>
              <a:ext cx="0" cy="15194962"/>
            </a:xfrm>
            <a:prstGeom prst="line">
              <a:avLst/>
            </a:prstGeom>
            <a:ln cap="flat" w="12700">
              <a:solidFill>
                <a:srgbClr val="FFFFFF">
                  <a:alpha val="4706"/>
                </a:srgbClr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8" id="8"/>
          <p:cNvGrpSpPr/>
          <p:nvPr/>
        </p:nvGrpSpPr>
        <p:grpSpPr>
          <a:xfrm rot="5400000">
            <a:off x="7571123" y="-10005917"/>
            <a:ext cx="3145753" cy="21342304"/>
            <a:chOff x="0" y="0"/>
            <a:chExt cx="828511" cy="562101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28511" cy="5621018"/>
            </a:xfrm>
            <a:custGeom>
              <a:avLst/>
              <a:gdLst/>
              <a:ahLst/>
              <a:cxnLst/>
              <a:rect r="r" b="b" t="t" l="l"/>
              <a:pathLst>
                <a:path h="5621018" w="828511">
                  <a:moveTo>
                    <a:pt x="0" y="0"/>
                  </a:moveTo>
                  <a:lnTo>
                    <a:pt x="828511" y="0"/>
                  </a:lnTo>
                  <a:lnTo>
                    <a:pt x="828511" y="5621018"/>
                  </a:lnTo>
                  <a:lnTo>
                    <a:pt x="0" y="5621018"/>
                  </a:lnTo>
                  <a:close/>
                </a:path>
              </a:pathLst>
            </a:custGeom>
            <a:gradFill rotWithShape="true">
              <a:gsLst>
                <a:gs pos="0">
                  <a:srgbClr val="852531">
                    <a:alpha val="100000"/>
                  </a:srgbClr>
                </a:gs>
                <a:gs pos="50000">
                  <a:srgbClr val="852531">
                    <a:alpha val="49500"/>
                  </a:srgbClr>
                </a:gs>
                <a:gs pos="100000">
                  <a:srgbClr val="85253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828511" cy="56591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5400000">
            <a:off x="7317059" y="-795323"/>
            <a:ext cx="3653882" cy="21342304"/>
            <a:chOff x="0" y="0"/>
            <a:chExt cx="962339" cy="562101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62339" cy="5621018"/>
            </a:xfrm>
            <a:custGeom>
              <a:avLst/>
              <a:gdLst/>
              <a:ahLst/>
              <a:cxnLst/>
              <a:rect r="r" b="b" t="t" l="l"/>
              <a:pathLst>
                <a:path h="5621018" w="962339">
                  <a:moveTo>
                    <a:pt x="0" y="0"/>
                  </a:moveTo>
                  <a:lnTo>
                    <a:pt x="962339" y="0"/>
                  </a:lnTo>
                  <a:lnTo>
                    <a:pt x="962339" y="5621018"/>
                  </a:lnTo>
                  <a:lnTo>
                    <a:pt x="0" y="5621018"/>
                  </a:lnTo>
                  <a:close/>
                </a:path>
              </a:pathLst>
            </a:custGeom>
            <a:gradFill rotWithShape="true">
              <a:gsLst>
                <a:gs pos="0">
                  <a:srgbClr val="852531">
                    <a:alpha val="100000"/>
                  </a:srgbClr>
                </a:gs>
                <a:gs pos="50000">
                  <a:srgbClr val="852531">
                    <a:alpha val="49500"/>
                  </a:srgbClr>
                </a:gs>
                <a:gs pos="100000">
                  <a:srgbClr val="85253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962339" cy="56591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4" id="14"/>
          <p:cNvSpPr/>
          <p:nvPr/>
        </p:nvSpPr>
        <p:spPr>
          <a:xfrm>
            <a:off x="1028700" y="1166139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5" id="15"/>
          <p:cNvGrpSpPr/>
          <p:nvPr/>
        </p:nvGrpSpPr>
        <p:grpSpPr>
          <a:xfrm rot="0">
            <a:off x="874443" y="4127304"/>
            <a:ext cx="16539113" cy="5600206"/>
            <a:chOff x="0" y="0"/>
            <a:chExt cx="4355980" cy="147495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355980" cy="1474951"/>
            </a:xfrm>
            <a:custGeom>
              <a:avLst/>
              <a:gdLst/>
              <a:ahLst/>
              <a:cxnLst/>
              <a:rect r="r" b="b" t="t" l="l"/>
              <a:pathLst>
                <a:path h="1474951" w="4355980">
                  <a:moveTo>
                    <a:pt x="30894" y="0"/>
                  </a:moveTo>
                  <a:lnTo>
                    <a:pt x="4325086" y="0"/>
                  </a:lnTo>
                  <a:cubicBezTo>
                    <a:pt x="4333280" y="0"/>
                    <a:pt x="4341138" y="3255"/>
                    <a:pt x="4346932" y="9049"/>
                  </a:cubicBezTo>
                  <a:cubicBezTo>
                    <a:pt x="4352725" y="14843"/>
                    <a:pt x="4355980" y="22701"/>
                    <a:pt x="4355980" y="30894"/>
                  </a:cubicBezTo>
                  <a:lnTo>
                    <a:pt x="4355980" y="1444057"/>
                  </a:lnTo>
                  <a:cubicBezTo>
                    <a:pt x="4355980" y="1452251"/>
                    <a:pt x="4352725" y="1460109"/>
                    <a:pt x="4346932" y="1465903"/>
                  </a:cubicBezTo>
                  <a:cubicBezTo>
                    <a:pt x="4341138" y="1471696"/>
                    <a:pt x="4333280" y="1474951"/>
                    <a:pt x="4325086" y="1474951"/>
                  </a:cubicBezTo>
                  <a:lnTo>
                    <a:pt x="30894" y="1474951"/>
                  </a:lnTo>
                  <a:cubicBezTo>
                    <a:pt x="13832" y="1474951"/>
                    <a:pt x="0" y="1461119"/>
                    <a:pt x="0" y="1444057"/>
                  </a:cubicBezTo>
                  <a:lnTo>
                    <a:pt x="0" y="30894"/>
                  </a:lnTo>
                  <a:cubicBezTo>
                    <a:pt x="0" y="22701"/>
                    <a:pt x="3255" y="14843"/>
                    <a:pt x="9049" y="9049"/>
                  </a:cubicBezTo>
                  <a:cubicBezTo>
                    <a:pt x="14843" y="3255"/>
                    <a:pt x="22701" y="0"/>
                    <a:pt x="3089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8F8F8">
                    <a:alpha val="14500"/>
                  </a:srgbClr>
                </a:gs>
                <a:gs pos="50000">
                  <a:srgbClr val="F8F8F8">
                    <a:alpha val="7000"/>
                  </a:srgbClr>
                </a:gs>
                <a:gs pos="100000">
                  <a:srgbClr val="F8F8F8">
                    <a:alpha val="14500"/>
                  </a:srgbClr>
                </a:gs>
              </a:gsLst>
              <a:lin ang="0"/>
            </a:gra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4355980" cy="15130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028700" y="4472811"/>
            <a:ext cx="7912111" cy="4747266"/>
          </a:xfrm>
          <a:custGeom>
            <a:avLst/>
            <a:gdLst/>
            <a:ahLst/>
            <a:cxnLst/>
            <a:rect r="r" b="b" t="t" l="l"/>
            <a:pathLst>
              <a:path h="4747266" w="7912111">
                <a:moveTo>
                  <a:pt x="0" y="0"/>
                </a:moveTo>
                <a:lnTo>
                  <a:pt x="7912111" y="0"/>
                </a:lnTo>
                <a:lnTo>
                  <a:pt x="7912111" y="4747266"/>
                </a:lnTo>
                <a:lnTo>
                  <a:pt x="0" y="47472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9283485" y="4472811"/>
            <a:ext cx="7975815" cy="4785489"/>
          </a:xfrm>
          <a:custGeom>
            <a:avLst/>
            <a:gdLst/>
            <a:ahLst/>
            <a:cxnLst/>
            <a:rect r="r" b="b" t="t" l="l"/>
            <a:pathLst>
              <a:path h="4785489" w="7975815">
                <a:moveTo>
                  <a:pt x="0" y="0"/>
                </a:moveTo>
                <a:lnTo>
                  <a:pt x="7975815" y="0"/>
                </a:lnTo>
                <a:lnTo>
                  <a:pt x="7975815" y="4785489"/>
                </a:lnTo>
                <a:lnTo>
                  <a:pt x="0" y="47854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028700" y="1817433"/>
            <a:ext cx="16230600" cy="148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841"/>
              </a:lnSpc>
            </a:pPr>
            <a:r>
              <a:rPr lang="en-US" sz="12046" spc="-722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Grade Comparison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28700" y="665366"/>
            <a:ext cx="2571016" cy="363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3"/>
              </a:lnSpc>
            </a:pPr>
            <a:r>
              <a:rPr lang="en-US" sz="2195" spc="-11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Miranda Insights LLC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697560" y="663042"/>
            <a:ext cx="2561740" cy="363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073"/>
              </a:lnSpc>
              <a:spcBef>
                <a:spcPct val="0"/>
              </a:spcBef>
            </a:pPr>
            <a:r>
              <a:rPr lang="en-US" sz="2195" spc="-11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March 2026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430330" y="3267007"/>
            <a:ext cx="13427339" cy="683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20"/>
              </a:lnSpc>
            </a:pPr>
            <a:r>
              <a:rPr lang="en-US" sz="2000" i="true" spc="-50">
                <a:solidFill>
                  <a:srgbClr val="F6F4F3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Th</a:t>
            </a:r>
            <a:r>
              <a:rPr lang="en-US" sz="2000" i="true" spc="-50">
                <a:solidFill>
                  <a:srgbClr val="F6F4F3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is view compares academic performance and attendance patterns between English Learner and non-EL student groups.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191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13130" y="-375629"/>
            <a:ext cx="19705935" cy="11396222"/>
            <a:chOff x="0" y="0"/>
            <a:chExt cx="26274580" cy="15194962"/>
          </a:xfrm>
        </p:grpSpPr>
        <p:sp>
          <p:nvSpPr>
            <p:cNvPr name="AutoShape 3" id="3"/>
            <p:cNvSpPr/>
            <p:nvPr/>
          </p:nvSpPr>
          <p:spPr>
            <a:xfrm flipH="true" flipV="true">
              <a:off x="2143320" y="0"/>
              <a:ext cx="0" cy="15194962"/>
            </a:xfrm>
            <a:prstGeom prst="line">
              <a:avLst/>
            </a:prstGeom>
            <a:ln cap="flat" w="12700">
              <a:solidFill>
                <a:srgbClr val="FFFFFF">
                  <a:alpha val="4706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" id="4"/>
            <p:cNvSpPr/>
            <p:nvPr/>
          </p:nvSpPr>
          <p:spPr>
            <a:xfrm flipH="true">
              <a:off x="0" y="3862444"/>
              <a:ext cx="26274580" cy="0"/>
            </a:xfrm>
            <a:prstGeom prst="line">
              <a:avLst/>
            </a:prstGeom>
            <a:ln cap="flat" w="12700">
              <a:solidFill>
                <a:srgbClr val="FFFFFF">
                  <a:alpha val="4706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" id="5"/>
            <p:cNvSpPr/>
            <p:nvPr/>
          </p:nvSpPr>
          <p:spPr>
            <a:xfrm flipH="true" flipV="true">
              <a:off x="9352687" y="0"/>
              <a:ext cx="0" cy="15194962"/>
            </a:xfrm>
            <a:prstGeom prst="line">
              <a:avLst/>
            </a:prstGeom>
            <a:ln cap="flat" w="12700">
              <a:solidFill>
                <a:srgbClr val="FFFFFF">
                  <a:alpha val="4706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" id="6"/>
            <p:cNvSpPr/>
            <p:nvPr/>
          </p:nvSpPr>
          <p:spPr>
            <a:xfrm flipH="true" flipV="true">
              <a:off x="23771420" y="0"/>
              <a:ext cx="0" cy="15194962"/>
            </a:xfrm>
            <a:prstGeom prst="line">
              <a:avLst/>
            </a:prstGeom>
            <a:ln cap="flat" w="12700">
              <a:solidFill>
                <a:srgbClr val="FFFFFF">
                  <a:alpha val="4706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" id="7"/>
            <p:cNvSpPr/>
            <p:nvPr/>
          </p:nvSpPr>
          <p:spPr>
            <a:xfrm flipH="true" flipV="true">
              <a:off x="16562053" y="0"/>
              <a:ext cx="0" cy="15194962"/>
            </a:xfrm>
            <a:prstGeom prst="line">
              <a:avLst/>
            </a:prstGeom>
            <a:ln cap="flat" w="12700">
              <a:solidFill>
                <a:srgbClr val="FFFFFF">
                  <a:alpha val="4706"/>
                </a:srgbClr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8" id="8"/>
          <p:cNvGrpSpPr/>
          <p:nvPr/>
        </p:nvGrpSpPr>
        <p:grpSpPr>
          <a:xfrm rot="5400000">
            <a:off x="7571123" y="-10005917"/>
            <a:ext cx="3145753" cy="21342304"/>
            <a:chOff x="0" y="0"/>
            <a:chExt cx="828511" cy="562101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28511" cy="5621018"/>
            </a:xfrm>
            <a:custGeom>
              <a:avLst/>
              <a:gdLst/>
              <a:ahLst/>
              <a:cxnLst/>
              <a:rect r="r" b="b" t="t" l="l"/>
              <a:pathLst>
                <a:path h="5621018" w="828511">
                  <a:moveTo>
                    <a:pt x="0" y="0"/>
                  </a:moveTo>
                  <a:lnTo>
                    <a:pt x="828511" y="0"/>
                  </a:lnTo>
                  <a:lnTo>
                    <a:pt x="828511" y="5621018"/>
                  </a:lnTo>
                  <a:lnTo>
                    <a:pt x="0" y="5621018"/>
                  </a:lnTo>
                  <a:close/>
                </a:path>
              </a:pathLst>
            </a:custGeom>
            <a:gradFill rotWithShape="true">
              <a:gsLst>
                <a:gs pos="0">
                  <a:srgbClr val="852531">
                    <a:alpha val="100000"/>
                  </a:srgbClr>
                </a:gs>
                <a:gs pos="50000">
                  <a:srgbClr val="852531">
                    <a:alpha val="49500"/>
                  </a:srgbClr>
                </a:gs>
                <a:gs pos="100000">
                  <a:srgbClr val="85253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828511" cy="56591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5400000">
            <a:off x="7317059" y="-795323"/>
            <a:ext cx="3653882" cy="21342304"/>
            <a:chOff x="0" y="0"/>
            <a:chExt cx="962339" cy="562101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62339" cy="5621018"/>
            </a:xfrm>
            <a:custGeom>
              <a:avLst/>
              <a:gdLst/>
              <a:ahLst/>
              <a:cxnLst/>
              <a:rect r="r" b="b" t="t" l="l"/>
              <a:pathLst>
                <a:path h="5621018" w="962339">
                  <a:moveTo>
                    <a:pt x="0" y="0"/>
                  </a:moveTo>
                  <a:lnTo>
                    <a:pt x="962339" y="0"/>
                  </a:lnTo>
                  <a:lnTo>
                    <a:pt x="962339" y="5621018"/>
                  </a:lnTo>
                  <a:lnTo>
                    <a:pt x="0" y="5621018"/>
                  </a:lnTo>
                  <a:close/>
                </a:path>
              </a:pathLst>
            </a:custGeom>
            <a:gradFill rotWithShape="true">
              <a:gsLst>
                <a:gs pos="0">
                  <a:srgbClr val="852531">
                    <a:alpha val="100000"/>
                  </a:srgbClr>
                </a:gs>
                <a:gs pos="50000">
                  <a:srgbClr val="852531">
                    <a:alpha val="49500"/>
                  </a:srgbClr>
                </a:gs>
                <a:gs pos="100000">
                  <a:srgbClr val="85253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962339" cy="56591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4" id="14"/>
          <p:cNvSpPr/>
          <p:nvPr/>
        </p:nvSpPr>
        <p:spPr>
          <a:xfrm>
            <a:off x="1028700" y="1166139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5" id="15"/>
          <p:cNvSpPr txBox="true"/>
          <p:nvPr/>
        </p:nvSpPr>
        <p:spPr>
          <a:xfrm rot="0">
            <a:off x="1028700" y="1817433"/>
            <a:ext cx="16230600" cy="148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841"/>
              </a:lnSpc>
            </a:pPr>
            <a:r>
              <a:rPr lang="en-US" sz="12046" spc="-722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Grade Comparison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665366"/>
            <a:ext cx="2571016" cy="363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3"/>
              </a:lnSpc>
            </a:pPr>
            <a:r>
              <a:rPr lang="en-US" sz="2195" spc="-11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Miranda Insights LLC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697560" y="663042"/>
            <a:ext cx="2561740" cy="363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073"/>
              </a:lnSpc>
              <a:spcBef>
                <a:spcPct val="0"/>
              </a:spcBef>
            </a:pPr>
            <a:r>
              <a:rPr lang="en-US" sz="2195" spc="-11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March 2026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74443" y="4127304"/>
            <a:ext cx="16539113" cy="5600206"/>
            <a:chOff x="0" y="0"/>
            <a:chExt cx="4355980" cy="147495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355980" cy="1474951"/>
            </a:xfrm>
            <a:custGeom>
              <a:avLst/>
              <a:gdLst/>
              <a:ahLst/>
              <a:cxnLst/>
              <a:rect r="r" b="b" t="t" l="l"/>
              <a:pathLst>
                <a:path h="1474951" w="4355980">
                  <a:moveTo>
                    <a:pt x="30894" y="0"/>
                  </a:moveTo>
                  <a:lnTo>
                    <a:pt x="4325086" y="0"/>
                  </a:lnTo>
                  <a:cubicBezTo>
                    <a:pt x="4333280" y="0"/>
                    <a:pt x="4341138" y="3255"/>
                    <a:pt x="4346932" y="9049"/>
                  </a:cubicBezTo>
                  <a:cubicBezTo>
                    <a:pt x="4352725" y="14843"/>
                    <a:pt x="4355980" y="22701"/>
                    <a:pt x="4355980" y="30894"/>
                  </a:cubicBezTo>
                  <a:lnTo>
                    <a:pt x="4355980" y="1444057"/>
                  </a:lnTo>
                  <a:cubicBezTo>
                    <a:pt x="4355980" y="1452251"/>
                    <a:pt x="4352725" y="1460109"/>
                    <a:pt x="4346932" y="1465903"/>
                  </a:cubicBezTo>
                  <a:cubicBezTo>
                    <a:pt x="4341138" y="1471696"/>
                    <a:pt x="4333280" y="1474951"/>
                    <a:pt x="4325086" y="1474951"/>
                  </a:cubicBezTo>
                  <a:lnTo>
                    <a:pt x="30894" y="1474951"/>
                  </a:lnTo>
                  <a:cubicBezTo>
                    <a:pt x="13832" y="1474951"/>
                    <a:pt x="0" y="1461119"/>
                    <a:pt x="0" y="1444057"/>
                  </a:cubicBezTo>
                  <a:lnTo>
                    <a:pt x="0" y="30894"/>
                  </a:lnTo>
                  <a:cubicBezTo>
                    <a:pt x="0" y="22701"/>
                    <a:pt x="3255" y="14843"/>
                    <a:pt x="9049" y="9049"/>
                  </a:cubicBezTo>
                  <a:cubicBezTo>
                    <a:pt x="14843" y="3255"/>
                    <a:pt x="22701" y="0"/>
                    <a:pt x="3089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8F8F8">
                    <a:alpha val="14500"/>
                  </a:srgbClr>
                </a:gs>
                <a:gs pos="50000">
                  <a:srgbClr val="F8F8F8">
                    <a:alpha val="7000"/>
                  </a:srgbClr>
                </a:gs>
                <a:gs pos="100000">
                  <a:srgbClr val="F8F8F8">
                    <a:alpha val="14500"/>
                  </a:srgbClr>
                </a:gs>
              </a:gsLst>
              <a:lin ang="0"/>
            </a:gra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4355980" cy="15130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2430330" y="3267007"/>
            <a:ext cx="13427339" cy="340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20"/>
              </a:lnSpc>
            </a:pPr>
            <a:r>
              <a:rPr lang="en-US" sz="2000" i="true" spc="-50">
                <a:solidFill>
                  <a:srgbClr val="F6F4F3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Th</a:t>
            </a:r>
            <a:r>
              <a:rPr lang="en-US" sz="2000" i="true" spc="-50">
                <a:solidFill>
                  <a:srgbClr val="F6F4F3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is view compares academic performance between English Learner and non-EL student groups.</a:t>
            </a:r>
          </a:p>
        </p:txBody>
      </p:sp>
      <p:graphicFrame>
        <p:nvGraphicFramePr>
          <p:cNvPr name="Table 22" id="22"/>
          <p:cNvGraphicFramePr>
            <a:graphicFrameLocks noGrp="true"/>
          </p:cNvGraphicFramePr>
          <p:nvPr/>
        </p:nvGraphicFramePr>
        <p:xfrm>
          <a:off x="874443" y="4763303"/>
          <a:ext cx="8171065" cy="4344526"/>
        </p:xfrm>
        <a:graphic>
          <a:graphicData uri="http://schemas.openxmlformats.org/drawingml/2006/table">
            <a:tbl>
              <a:tblPr/>
              <a:tblGrid>
                <a:gridCol w="995256"/>
                <a:gridCol w="1042675"/>
                <a:gridCol w="838723"/>
                <a:gridCol w="890502"/>
                <a:gridCol w="1049016"/>
                <a:gridCol w="838723"/>
                <a:gridCol w="838723"/>
                <a:gridCol w="838723"/>
                <a:gridCol w="838723"/>
              </a:tblGrid>
              <a:tr h="97818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r>
                        <a:rPr lang="en-US" sz="13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grade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subject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n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mean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median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q1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q3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min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max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</a:tr>
              <a:tr h="84158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9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English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13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76.31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80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63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87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57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94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158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9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Math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13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81.08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85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70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90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57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97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158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10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English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13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74.38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76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59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88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56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99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158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10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Math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13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76.62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76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71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88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55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98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name="Table 23" id="23"/>
          <p:cNvGraphicFramePr>
            <a:graphicFrameLocks noGrp="true"/>
          </p:cNvGraphicFramePr>
          <p:nvPr/>
        </p:nvGraphicFramePr>
        <p:xfrm>
          <a:off x="9075148" y="4763303"/>
          <a:ext cx="8338409" cy="4344526"/>
        </p:xfrm>
        <a:graphic>
          <a:graphicData uri="http://schemas.openxmlformats.org/drawingml/2006/table">
            <a:tbl>
              <a:tblPr/>
              <a:tblGrid>
                <a:gridCol w="1015639"/>
                <a:gridCol w="1064029"/>
                <a:gridCol w="855900"/>
                <a:gridCol w="908740"/>
                <a:gridCol w="1070499"/>
                <a:gridCol w="855900"/>
                <a:gridCol w="855900"/>
                <a:gridCol w="855900"/>
                <a:gridCol w="855900"/>
              </a:tblGrid>
              <a:tr h="90716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r>
                        <a:rPr lang="en-US" sz="13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grade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subject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n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mean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median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q1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q3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min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max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</a:tr>
              <a:tr h="83600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11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English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12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78.92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79.5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64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91.75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55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99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3600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11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Math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12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80.08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82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70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88.75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61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100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3600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12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English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12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70.5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69.5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65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74.5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59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86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2934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12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Math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12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75.67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78.5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60.25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89.5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56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100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1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13130" y="-375629"/>
            <a:ext cx="19705935" cy="11396222"/>
            <a:chOff x="0" y="0"/>
            <a:chExt cx="26274580" cy="15194962"/>
          </a:xfrm>
        </p:grpSpPr>
        <p:sp>
          <p:nvSpPr>
            <p:cNvPr name="AutoShape 3" id="3"/>
            <p:cNvSpPr/>
            <p:nvPr/>
          </p:nvSpPr>
          <p:spPr>
            <a:xfrm flipH="true" flipV="true">
              <a:off x="2143320" y="0"/>
              <a:ext cx="0" cy="15194962"/>
            </a:xfrm>
            <a:prstGeom prst="line">
              <a:avLst/>
            </a:prstGeom>
            <a:ln cap="flat" w="12700">
              <a:solidFill>
                <a:srgbClr val="FFFFFF">
                  <a:alpha val="4706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" id="4"/>
            <p:cNvSpPr/>
            <p:nvPr/>
          </p:nvSpPr>
          <p:spPr>
            <a:xfrm flipH="true">
              <a:off x="0" y="3862444"/>
              <a:ext cx="26274580" cy="0"/>
            </a:xfrm>
            <a:prstGeom prst="line">
              <a:avLst/>
            </a:prstGeom>
            <a:ln cap="flat" w="12700">
              <a:solidFill>
                <a:srgbClr val="FFFFFF">
                  <a:alpha val="4706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" id="5"/>
            <p:cNvSpPr/>
            <p:nvPr/>
          </p:nvSpPr>
          <p:spPr>
            <a:xfrm flipH="true" flipV="true">
              <a:off x="9352687" y="0"/>
              <a:ext cx="0" cy="15194962"/>
            </a:xfrm>
            <a:prstGeom prst="line">
              <a:avLst/>
            </a:prstGeom>
            <a:ln cap="flat" w="12700">
              <a:solidFill>
                <a:srgbClr val="FFFFFF">
                  <a:alpha val="4706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" id="6"/>
            <p:cNvSpPr/>
            <p:nvPr/>
          </p:nvSpPr>
          <p:spPr>
            <a:xfrm flipH="true" flipV="true">
              <a:off x="23771420" y="0"/>
              <a:ext cx="0" cy="15194962"/>
            </a:xfrm>
            <a:prstGeom prst="line">
              <a:avLst/>
            </a:prstGeom>
            <a:ln cap="flat" w="12700">
              <a:solidFill>
                <a:srgbClr val="FFFFFF">
                  <a:alpha val="4706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" id="7"/>
            <p:cNvSpPr/>
            <p:nvPr/>
          </p:nvSpPr>
          <p:spPr>
            <a:xfrm flipH="true" flipV="true">
              <a:off x="16562053" y="0"/>
              <a:ext cx="0" cy="15194962"/>
            </a:xfrm>
            <a:prstGeom prst="line">
              <a:avLst/>
            </a:prstGeom>
            <a:ln cap="flat" w="12700">
              <a:solidFill>
                <a:srgbClr val="FFFFFF">
                  <a:alpha val="4706"/>
                </a:srgbClr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8" id="8"/>
          <p:cNvGrpSpPr/>
          <p:nvPr/>
        </p:nvGrpSpPr>
        <p:grpSpPr>
          <a:xfrm rot="5400000">
            <a:off x="7571123" y="-10005917"/>
            <a:ext cx="3145753" cy="21342304"/>
            <a:chOff x="0" y="0"/>
            <a:chExt cx="828511" cy="562101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28511" cy="5621018"/>
            </a:xfrm>
            <a:custGeom>
              <a:avLst/>
              <a:gdLst/>
              <a:ahLst/>
              <a:cxnLst/>
              <a:rect r="r" b="b" t="t" l="l"/>
              <a:pathLst>
                <a:path h="5621018" w="828511">
                  <a:moveTo>
                    <a:pt x="0" y="0"/>
                  </a:moveTo>
                  <a:lnTo>
                    <a:pt x="828511" y="0"/>
                  </a:lnTo>
                  <a:lnTo>
                    <a:pt x="828511" y="5621018"/>
                  </a:lnTo>
                  <a:lnTo>
                    <a:pt x="0" y="5621018"/>
                  </a:lnTo>
                  <a:close/>
                </a:path>
              </a:pathLst>
            </a:custGeom>
            <a:gradFill rotWithShape="true">
              <a:gsLst>
                <a:gs pos="0">
                  <a:srgbClr val="852531">
                    <a:alpha val="100000"/>
                  </a:srgbClr>
                </a:gs>
                <a:gs pos="50000">
                  <a:srgbClr val="852531">
                    <a:alpha val="49500"/>
                  </a:srgbClr>
                </a:gs>
                <a:gs pos="100000">
                  <a:srgbClr val="85253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828511" cy="56591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5400000">
            <a:off x="7317059" y="-795323"/>
            <a:ext cx="3653882" cy="21342304"/>
            <a:chOff x="0" y="0"/>
            <a:chExt cx="962339" cy="562101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62339" cy="5621018"/>
            </a:xfrm>
            <a:custGeom>
              <a:avLst/>
              <a:gdLst/>
              <a:ahLst/>
              <a:cxnLst/>
              <a:rect r="r" b="b" t="t" l="l"/>
              <a:pathLst>
                <a:path h="5621018" w="962339">
                  <a:moveTo>
                    <a:pt x="0" y="0"/>
                  </a:moveTo>
                  <a:lnTo>
                    <a:pt x="962339" y="0"/>
                  </a:lnTo>
                  <a:lnTo>
                    <a:pt x="962339" y="5621018"/>
                  </a:lnTo>
                  <a:lnTo>
                    <a:pt x="0" y="5621018"/>
                  </a:lnTo>
                  <a:close/>
                </a:path>
              </a:pathLst>
            </a:custGeom>
            <a:gradFill rotWithShape="true">
              <a:gsLst>
                <a:gs pos="0">
                  <a:srgbClr val="852531">
                    <a:alpha val="100000"/>
                  </a:srgbClr>
                </a:gs>
                <a:gs pos="50000">
                  <a:srgbClr val="852531">
                    <a:alpha val="49500"/>
                  </a:srgbClr>
                </a:gs>
                <a:gs pos="100000">
                  <a:srgbClr val="85253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962339" cy="56591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4" id="14"/>
          <p:cNvSpPr/>
          <p:nvPr/>
        </p:nvSpPr>
        <p:spPr>
          <a:xfrm>
            <a:off x="1028700" y="1166139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5" id="15"/>
          <p:cNvGrpSpPr/>
          <p:nvPr/>
        </p:nvGrpSpPr>
        <p:grpSpPr>
          <a:xfrm rot="0">
            <a:off x="874443" y="4127304"/>
            <a:ext cx="16539113" cy="5600206"/>
            <a:chOff x="0" y="0"/>
            <a:chExt cx="4355980" cy="147495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355980" cy="1474951"/>
            </a:xfrm>
            <a:custGeom>
              <a:avLst/>
              <a:gdLst/>
              <a:ahLst/>
              <a:cxnLst/>
              <a:rect r="r" b="b" t="t" l="l"/>
              <a:pathLst>
                <a:path h="1474951" w="4355980">
                  <a:moveTo>
                    <a:pt x="30894" y="0"/>
                  </a:moveTo>
                  <a:lnTo>
                    <a:pt x="4325086" y="0"/>
                  </a:lnTo>
                  <a:cubicBezTo>
                    <a:pt x="4333280" y="0"/>
                    <a:pt x="4341138" y="3255"/>
                    <a:pt x="4346932" y="9049"/>
                  </a:cubicBezTo>
                  <a:cubicBezTo>
                    <a:pt x="4352725" y="14843"/>
                    <a:pt x="4355980" y="22701"/>
                    <a:pt x="4355980" y="30894"/>
                  </a:cubicBezTo>
                  <a:lnTo>
                    <a:pt x="4355980" y="1444057"/>
                  </a:lnTo>
                  <a:cubicBezTo>
                    <a:pt x="4355980" y="1452251"/>
                    <a:pt x="4352725" y="1460109"/>
                    <a:pt x="4346932" y="1465903"/>
                  </a:cubicBezTo>
                  <a:cubicBezTo>
                    <a:pt x="4341138" y="1471696"/>
                    <a:pt x="4333280" y="1474951"/>
                    <a:pt x="4325086" y="1474951"/>
                  </a:cubicBezTo>
                  <a:lnTo>
                    <a:pt x="30894" y="1474951"/>
                  </a:lnTo>
                  <a:cubicBezTo>
                    <a:pt x="13832" y="1474951"/>
                    <a:pt x="0" y="1461119"/>
                    <a:pt x="0" y="1444057"/>
                  </a:cubicBezTo>
                  <a:lnTo>
                    <a:pt x="0" y="30894"/>
                  </a:lnTo>
                  <a:cubicBezTo>
                    <a:pt x="0" y="22701"/>
                    <a:pt x="3255" y="14843"/>
                    <a:pt x="9049" y="9049"/>
                  </a:cubicBezTo>
                  <a:cubicBezTo>
                    <a:pt x="14843" y="3255"/>
                    <a:pt x="22701" y="0"/>
                    <a:pt x="3089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8F8F8">
                    <a:alpha val="14500"/>
                  </a:srgbClr>
                </a:gs>
                <a:gs pos="50000">
                  <a:srgbClr val="F8F8F8">
                    <a:alpha val="7000"/>
                  </a:srgbClr>
                </a:gs>
                <a:gs pos="100000">
                  <a:srgbClr val="F8F8F8">
                    <a:alpha val="14500"/>
                  </a:srgbClr>
                </a:gs>
              </a:gsLst>
              <a:lin ang="0"/>
            </a:gra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4355980" cy="15130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028700" y="4463098"/>
            <a:ext cx="7992003" cy="4795202"/>
          </a:xfrm>
          <a:custGeom>
            <a:avLst/>
            <a:gdLst/>
            <a:ahLst/>
            <a:cxnLst/>
            <a:rect r="r" b="b" t="t" l="l"/>
            <a:pathLst>
              <a:path h="4795202" w="7992003">
                <a:moveTo>
                  <a:pt x="0" y="0"/>
                </a:moveTo>
                <a:lnTo>
                  <a:pt x="7992003" y="0"/>
                </a:lnTo>
                <a:lnTo>
                  <a:pt x="7992003" y="4795202"/>
                </a:lnTo>
                <a:lnTo>
                  <a:pt x="0" y="47952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9280243" y="4463098"/>
            <a:ext cx="7979057" cy="4787434"/>
          </a:xfrm>
          <a:custGeom>
            <a:avLst/>
            <a:gdLst/>
            <a:ahLst/>
            <a:cxnLst/>
            <a:rect r="r" b="b" t="t" l="l"/>
            <a:pathLst>
              <a:path h="4787434" w="7979057">
                <a:moveTo>
                  <a:pt x="0" y="0"/>
                </a:moveTo>
                <a:lnTo>
                  <a:pt x="7979057" y="0"/>
                </a:lnTo>
                <a:lnTo>
                  <a:pt x="7979057" y="4787435"/>
                </a:lnTo>
                <a:lnTo>
                  <a:pt x="0" y="47874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028700" y="1817433"/>
            <a:ext cx="16230600" cy="148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841"/>
              </a:lnSpc>
            </a:pPr>
            <a:r>
              <a:rPr lang="en-US" sz="12046" spc="-722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School Comparison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28700" y="665366"/>
            <a:ext cx="2571016" cy="363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3"/>
              </a:lnSpc>
            </a:pPr>
            <a:r>
              <a:rPr lang="en-US" sz="2195" spc="-11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Miranda Insights LLC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697560" y="663042"/>
            <a:ext cx="2561740" cy="363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073"/>
              </a:lnSpc>
              <a:spcBef>
                <a:spcPct val="0"/>
              </a:spcBef>
            </a:pPr>
            <a:r>
              <a:rPr lang="en-US" sz="2195" spc="-11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March 2026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430330" y="3267007"/>
            <a:ext cx="13427339" cy="683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20"/>
              </a:lnSpc>
            </a:pPr>
            <a:r>
              <a:rPr lang="en-US" sz="2000" i="true" spc="-50">
                <a:solidFill>
                  <a:srgbClr val="F6F4F3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Th</a:t>
            </a:r>
            <a:r>
              <a:rPr lang="en-US" sz="2000" i="true" spc="-50">
                <a:solidFill>
                  <a:srgbClr val="F6F4F3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is view compares academic performance and attendance patterns between English Learner and non-EL student groups.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191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13130" y="-375629"/>
            <a:ext cx="19705935" cy="11396222"/>
            <a:chOff x="0" y="0"/>
            <a:chExt cx="26274580" cy="15194962"/>
          </a:xfrm>
        </p:grpSpPr>
        <p:sp>
          <p:nvSpPr>
            <p:cNvPr name="AutoShape 3" id="3"/>
            <p:cNvSpPr/>
            <p:nvPr/>
          </p:nvSpPr>
          <p:spPr>
            <a:xfrm flipH="true" flipV="true">
              <a:off x="2143320" y="0"/>
              <a:ext cx="0" cy="15194962"/>
            </a:xfrm>
            <a:prstGeom prst="line">
              <a:avLst/>
            </a:prstGeom>
            <a:ln cap="flat" w="12700">
              <a:solidFill>
                <a:srgbClr val="FFFFFF">
                  <a:alpha val="4706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" id="4"/>
            <p:cNvSpPr/>
            <p:nvPr/>
          </p:nvSpPr>
          <p:spPr>
            <a:xfrm flipH="true">
              <a:off x="0" y="3862444"/>
              <a:ext cx="26274580" cy="0"/>
            </a:xfrm>
            <a:prstGeom prst="line">
              <a:avLst/>
            </a:prstGeom>
            <a:ln cap="flat" w="12700">
              <a:solidFill>
                <a:srgbClr val="FFFFFF">
                  <a:alpha val="4706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" id="5"/>
            <p:cNvSpPr/>
            <p:nvPr/>
          </p:nvSpPr>
          <p:spPr>
            <a:xfrm flipH="true" flipV="true">
              <a:off x="9352687" y="0"/>
              <a:ext cx="0" cy="15194962"/>
            </a:xfrm>
            <a:prstGeom prst="line">
              <a:avLst/>
            </a:prstGeom>
            <a:ln cap="flat" w="12700">
              <a:solidFill>
                <a:srgbClr val="FFFFFF">
                  <a:alpha val="4706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" id="6"/>
            <p:cNvSpPr/>
            <p:nvPr/>
          </p:nvSpPr>
          <p:spPr>
            <a:xfrm flipH="true" flipV="true">
              <a:off x="23771420" y="0"/>
              <a:ext cx="0" cy="15194962"/>
            </a:xfrm>
            <a:prstGeom prst="line">
              <a:avLst/>
            </a:prstGeom>
            <a:ln cap="flat" w="12700">
              <a:solidFill>
                <a:srgbClr val="FFFFFF">
                  <a:alpha val="4706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" id="7"/>
            <p:cNvSpPr/>
            <p:nvPr/>
          </p:nvSpPr>
          <p:spPr>
            <a:xfrm flipH="true" flipV="true">
              <a:off x="16562053" y="0"/>
              <a:ext cx="0" cy="15194962"/>
            </a:xfrm>
            <a:prstGeom prst="line">
              <a:avLst/>
            </a:prstGeom>
            <a:ln cap="flat" w="12700">
              <a:solidFill>
                <a:srgbClr val="FFFFFF">
                  <a:alpha val="4706"/>
                </a:srgbClr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8" id="8"/>
          <p:cNvGrpSpPr/>
          <p:nvPr/>
        </p:nvGrpSpPr>
        <p:grpSpPr>
          <a:xfrm rot="5400000">
            <a:off x="7571123" y="-10005917"/>
            <a:ext cx="3145753" cy="21342304"/>
            <a:chOff x="0" y="0"/>
            <a:chExt cx="828511" cy="562101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28511" cy="5621018"/>
            </a:xfrm>
            <a:custGeom>
              <a:avLst/>
              <a:gdLst/>
              <a:ahLst/>
              <a:cxnLst/>
              <a:rect r="r" b="b" t="t" l="l"/>
              <a:pathLst>
                <a:path h="5621018" w="828511">
                  <a:moveTo>
                    <a:pt x="0" y="0"/>
                  </a:moveTo>
                  <a:lnTo>
                    <a:pt x="828511" y="0"/>
                  </a:lnTo>
                  <a:lnTo>
                    <a:pt x="828511" y="5621018"/>
                  </a:lnTo>
                  <a:lnTo>
                    <a:pt x="0" y="5621018"/>
                  </a:lnTo>
                  <a:close/>
                </a:path>
              </a:pathLst>
            </a:custGeom>
            <a:gradFill rotWithShape="true">
              <a:gsLst>
                <a:gs pos="0">
                  <a:srgbClr val="852531">
                    <a:alpha val="100000"/>
                  </a:srgbClr>
                </a:gs>
                <a:gs pos="50000">
                  <a:srgbClr val="852531">
                    <a:alpha val="49500"/>
                  </a:srgbClr>
                </a:gs>
                <a:gs pos="100000">
                  <a:srgbClr val="85253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828511" cy="56591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5400000">
            <a:off x="7317059" y="-795323"/>
            <a:ext cx="3653882" cy="21342304"/>
            <a:chOff x="0" y="0"/>
            <a:chExt cx="962339" cy="562101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62339" cy="5621018"/>
            </a:xfrm>
            <a:custGeom>
              <a:avLst/>
              <a:gdLst/>
              <a:ahLst/>
              <a:cxnLst/>
              <a:rect r="r" b="b" t="t" l="l"/>
              <a:pathLst>
                <a:path h="5621018" w="962339">
                  <a:moveTo>
                    <a:pt x="0" y="0"/>
                  </a:moveTo>
                  <a:lnTo>
                    <a:pt x="962339" y="0"/>
                  </a:lnTo>
                  <a:lnTo>
                    <a:pt x="962339" y="5621018"/>
                  </a:lnTo>
                  <a:lnTo>
                    <a:pt x="0" y="5621018"/>
                  </a:lnTo>
                  <a:close/>
                </a:path>
              </a:pathLst>
            </a:custGeom>
            <a:gradFill rotWithShape="true">
              <a:gsLst>
                <a:gs pos="0">
                  <a:srgbClr val="852531">
                    <a:alpha val="100000"/>
                  </a:srgbClr>
                </a:gs>
                <a:gs pos="50000">
                  <a:srgbClr val="852531">
                    <a:alpha val="49500"/>
                  </a:srgbClr>
                </a:gs>
                <a:gs pos="100000">
                  <a:srgbClr val="85253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962339" cy="56591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4" id="14"/>
          <p:cNvSpPr/>
          <p:nvPr/>
        </p:nvSpPr>
        <p:spPr>
          <a:xfrm>
            <a:off x="1028700" y="1166139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5" id="15"/>
          <p:cNvSpPr txBox="true"/>
          <p:nvPr/>
        </p:nvSpPr>
        <p:spPr>
          <a:xfrm rot="0">
            <a:off x="1028700" y="1817433"/>
            <a:ext cx="16230600" cy="148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841"/>
              </a:lnSpc>
            </a:pPr>
            <a:r>
              <a:rPr lang="en-US" sz="12046" spc="-722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School Comparison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665366"/>
            <a:ext cx="2571016" cy="363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3"/>
              </a:lnSpc>
            </a:pPr>
            <a:r>
              <a:rPr lang="en-US" sz="2195" spc="-11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Miranda Insights LLC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697560" y="663042"/>
            <a:ext cx="2561740" cy="363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073"/>
              </a:lnSpc>
              <a:spcBef>
                <a:spcPct val="0"/>
              </a:spcBef>
            </a:pPr>
            <a:r>
              <a:rPr lang="en-US" sz="2195" spc="-11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March 2026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74443" y="4127304"/>
            <a:ext cx="16539113" cy="5600206"/>
            <a:chOff x="0" y="0"/>
            <a:chExt cx="4355980" cy="147495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355980" cy="1474951"/>
            </a:xfrm>
            <a:custGeom>
              <a:avLst/>
              <a:gdLst/>
              <a:ahLst/>
              <a:cxnLst/>
              <a:rect r="r" b="b" t="t" l="l"/>
              <a:pathLst>
                <a:path h="1474951" w="4355980">
                  <a:moveTo>
                    <a:pt x="30894" y="0"/>
                  </a:moveTo>
                  <a:lnTo>
                    <a:pt x="4325086" y="0"/>
                  </a:lnTo>
                  <a:cubicBezTo>
                    <a:pt x="4333280" y="0"/>
                    <a:pt x="4341138" y="3255"/>
                    <a:pt x="4346932" y="9049"/>
                  </a:cubicBezTo>
                  <a:cubicBezTo>
                    <a:pt x="4352725" y="14843"/>
                    <a:pt x="4355980" y="22701"/>
                    <a:pt x="4355980" y="30894"/>
                  </a:cubicBezTo>
                  <a:lnTo>
                    <a:pt x="4355980" y="1444057"/>
                  </a:lnTo>
                  <a:cubicBezTo>
                    <a:pt x="4355980" y="1452251"/>
                    <a:pt x="4352725" y="1460109"/>
                    <a:pt x="4346932" y="1465903"/>
                  </a:cubicBezTo>
                  <a:cubicBezTo>
                    <a:pt x="4341138" y="1471696"/>
                    <a:pt x="4333280" y="1474951"/>
                    <a:pt x="4325086" y="1474951"/>
                  </a:cubicBezTo>
                  <a:lnTo>
                    <a:pt x="30894" y="1474951"/>
                  </a:lnTo>
                  <a:cubicBezTo>
                    <a:pt x="13832" y="1474951"/>
                    <a:pt x="0" y="1461119"/>
                    <a:pt x="0" y="1444057"/>
                  </a:cubicBezTo>
                  <a:lnTo>
                    <a:pt x="0" y="30894"/>
                  </a:lnTo>
                  <a:cubicBezTo>
                    <a:pt x="0" y="22701"/>
                    <a:pt x="3255" y="14843"/>
                    <a:pt x="9049" y="9049"/>
                  </a:cubicBezTo>
                  <a:cubicBezTo>
                    <a:pt x="14843" y="3255"/>
                    <a:pt x="22701" y="0"/>
                    <a:pt x="3089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8F8F8">
                    <a:alpha val="14500"/>
                  </a:srgbClr>
                </a:gs>
                <a:gs pos="50000">
                  <a:srgbClr val="F8F8F8">
                    <a:alpha val="7000"/>
                  </a:srgbClr>
                </a:gs>
                <a:gs pos="100000">
                  <a:srgbClr val="F8F8F8">
                    <a:alpha val="14500"/>
                  </a:srgbClr>
                </a:gs>
              </a:gsLst>
              <a:lin ang="0"/>
            </a:gra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4355980" cy="15130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2430330" y="3267007"/>
            <a:ext cx="13427339" cy="340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20"/>
              </a:lnSpc>
            </a:pPr>
            <a:r>
              <a:rPr lang="en-US" sz="2000" i="true" spc="-50">
                <a:solidFill>
                  <a:srgbClr val="F6F4F3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Th</a:t>
            </a:r>
            <a:r>
              <a:rPr lang="en-US" sz="2000" i="true" spc="-50">
                <a:solidFill>
                  <a:srgbClr val="F6F4F3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is view compares academic performance patterns between English Learner and non-EL student groups.</a:t>
            </a:r>
          </a:p>
        </p:txBody>
      </p:sp>
      <p:graphicFrame>
        <p:nvGraphicFramePr>
          <p:cNvPr name="Table 22" id="22"/>
          <p:cNvGraphicFramePr>
            <a:graphicFrameLocks noGrp="true"/>
          </p:cNvGraphicFramePr>
          <p:nvPr/>
        </p:nvGraphicFramePr>
        <p:xfrm>
          <a:off x="874443" y="4763303"/>
          <a:ext cx="8171065" cy="3580991"/>
        </p:xfrm>
        <a:graphic>
          <a:graphicData uri="http://schemas.openxmlformats.org/drawingml/2006/table">
            <a:tbl>
              <a:tblPr/>
              <a:tblGrid>
                <a:gridCol w="995256"/>
                <a:gridCol w="1042675"/>
                <a:gridCol w="838723"/>
                <a:gridCol w="890502"/>
                <a:gridCol w="1049016"/>
                <a:gridCol w="838723"/>
                <a:gridCol w="838723"/>
                <a:gridCol w="838723"/>
                <a:gridCol w="838723"/>
              </a:tblGrid>
              <a:tr h="98003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r>
                        <a:rPr lang="en-US" sz="13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school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subject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n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mean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median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q1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q3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min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max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</a:tr>
              <a:tr h="91460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ACHS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English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16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74.94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72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61.75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83.75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56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99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317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OHS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English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17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72.94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70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63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83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55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94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317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VHS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English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17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77.24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82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60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88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57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94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name="Table 23" id="23"/>
          <p:cNvGraphicFramePr>
            <a:graphicFrameLocks noGrp="true"/>
          </p:cNvGraphicFramePr>
          <p:nvPr/>
        </p:nvGraphicFramePr>
        <p:xfrm>
          <a:off x="9075148" y="4763303"/>
          <a:ext cx="8338409" cy="3586521"/>
        </p:xfrm>
        <a:graphic>
          <a:graphicData uri="http://schemas.openxmlformats.org/drawingml/2006/table">
            <a:tbl>
              <a:tblPr/>
              <a:tblGrid>
                <a:gridCol w="1015639"/>
                <a:gridCol w="1064029"/>
                <a:gridCol w="855900"/>
                <a:gridCol w="908740"/>
                <a:gridCol w="1070499"/>
                <a:gridCol w="855900"/>
                <a:gridCol w="855900"/>
                <a:gridCol w="855900"/>
                <a:gridCol w="855900"/>
              </a:tblGrid>
              <a:tr h="90886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r>
                        <a:rPr lang="en-US" sz="13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school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subject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n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mean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median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q1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q3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min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max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</a:tr>
              <a:tr h="91459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ACHS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Math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16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79.25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82.5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69.25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91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57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100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3757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OHS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Math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17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75.53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75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65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85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56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99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2549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VHS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Math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17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80.41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80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70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90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55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65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650"/>
                        </a:lnSpc>
                      </a:pPr>
                      <a:r>
                        <a:rPr lang="en-US" sz="13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100</a:t>
                      </a:r>
                    </a:p>
                    <a:p>
                      <a:pPr algn="ctr">
                        <a:lnSpc>
                          <a:spcPts val="65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1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13130" y="-375629"/>
            <a:ext cx="19705935" cy="11396222"/>
            <a:chOff x="0" y="0"/>
            <a:chExt cx="26274580" cy="15194962"/>
          </a:xfrm>
        </p:grpSpPr>
        <p:sp>
          <p:nvSpPr>
            <p:cNvPr name="AutoShape 3" id="3"/>
            <p:cNvSpPr/>
            <p:nvPr/>
          </p:nvSpPr>
          <p:spPr>
            <a:xfrm flipH="true" flipV="true">
              <a:off x="2143320" y="0"/>
              <a:ext cx="0" cy="15194962"/>
            </a:xfrm>
            <a:prstGeom prst="line">
              <a:avLst/>
            </a:prstGeom>
            <a:ln cap="flat" w="12700">
              <a:solidFill>
                <a:srgbClr val="FFFFFF">
                  <a:alpha val="4706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" id="4"/>
            <p:cNvSpPr/>
            <p:nvPr/>
          </p:nvSpPr>
          <p:spPr>
            <a:xfrm flipH="true">
              <a:off x="0" y="3862444"/>
              <a:ext cx="26274580" cy="0"/>
            </a:xfrm>
            <a:prstGeom prst="line">
              <a:avLst/>
            </a:prstGeom>
            <a:ln cap="flat" w="12700">
              <a:solidFill>
                <a:srgbClr val="FFFFFF">
                  <a:alpha val="4706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" id="5"/>
            <p:cNvSpPr/>
            <p:nvPr/>
          </p:nvSpPr>
          <p:spPr>
            <a:xfrm flipH="true" flipV="true">
              <a:off x="9352687" y="0"/>
              <a:ext cx="0" cy="15194962"/>
            </a:xfrm>
            <a:prstGeom prst="line">
              <a:avLst/>
            </a:prstGeom>
            <a:ln cap="flat" w="12700">
              <a:solidFill>
                <a:srgbClr val="FFFFFF">
                  <a:alpha val="4706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" id="6"/>
            <p:cNvSpPr/>
            <p:nvPr/>
          </p:nvSpPr>
          <p:spPr>
            <a:xfrm flipH="true" flipV="true">
              <a:off x="23771420" y="0"/>
              <a:ext cx="0" cy="15194962"/>
            </a:xfrm>
            <a:prstGeom prst="line">
              <a:avLst/>
            </a:prstGeom>
            <a:ln cap="flat" w="12700">
              <a:solidFill>
                <a:srgbClr val="FFFFFF">
                  <a:alpha val="4706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" id="7"/>
            <p:cNvSpPr/>
            <p:nvPr/>
          </p:nvSpPr>
          <p:spPr>
            <a:xfrm flipH="true" flipV="true">
              <a:off x="16562053" y="0"/>
              <a:ext cx="0" cy="15194962"/>
            </a:xfrm>
            <a:prstGeom prst="line">
              <a:avLst/>
            </a:prstGeom>
            <a:ln cap="flat" w="12700">
              <a:solidFill>
                <a:srgbClr val="FFFFFF">
                  <a:alpha val="4706"/>
                </a:srgbClr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8" id="8"/>
          <p:cNvGrpSpPr/>
          <p:nvPr/>
        </p:nvGrpSpPr>
        <p:grpSpPr>
          <a:xfrm rot="5400000">
            <a:off x="7571123" y="-10005917"/>
            <a:ext cx="3145753" cy="21342304"/>
            <a:chOff x="0" y="0"/>
            <a:chExt cx="828511" cy="562101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28511" cy="5621018"/>
            </a:xfrm>
            <a:custGeom>
              <a:avLst/>
              <a:gdLst/>
              <a:ahLst/>
              <a:cxnLst/>
              <a:rect r="r" b="b" t="t" l="l"/>
              <a:pathLst>
                <a:path h="5621018" w="828511">
                  <a:moveTo>
                    <a:pt x="0" y="0"/>
                  </a:moveTo>
                  <a:lnTo>
                    <a:pt x="828511" y="0"/>
                  </a:lnTo>
                  <a:lnTo>
                    <a:pt x="828511" y="5621018"/>
                  </a:lnTo>
                  <a:lnTo>
                    <a:pt x="0" y="5621018"/>
                  </a:lnTo>
                  <a:close/>
                </a:path>
              </a:pathLst>
            </a:custGeom>
            <a:gradFill rotWithShape="true">
              <a:gsLst>
                <a:gs pos="0">
                  <a:srgbClr val="852531">
                    <a:alpha val="100000"/>
                  </a:srgbClr>
                </a:gs>
                <a:gs pos="50000">
                  <a:srgbClr val="852531">
                    <a:alpha val="49500"/>
                  </a:srgbClr>
                </a:gs>
                <a:gs pos="100000">
                  <a:srgbClr val="85253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828511" cy="56591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5400000">
            <a:off x="7317059" y="-795323"/>
            <a:ext cx="3653882" cy="21342304"/>
            <a:chOff x="0" y="0"/>
            <a:chExt cx="962339" cy="562101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62339" cy="5621018"/>
            </a:xfrm>
            <a:custGeom>
              <a:avLst/>
              <a:gdLst/>
              <a:ahLst/>
              <a:cxnLst/>
              <a:rect r="r" b="b" t="t" l="l"/>
              <a:pathLst>
                <a:path h="5621018" w="962339">
                  <a:moveTo>
                    <a:pt x="0" y="0"/>
                  </a:moveTo>
                  <a:lnTo>
                    <a:pt x="962339" y="0"/>
                  </a:lnTo>
                  <a:lnTo>
                    <a:pt x="962339" y="5621018"/>
                  </a:lnTo>
                  <a:lnTo>
                    <a:pt x="0" y="5621018"/>
                  </a:lnTo>
                  <a:close/>
                </a:path>
              </a:pathLst>
            </a:custGeom>
            <a:gradFill rotWithShape="true">
              <a:gsLst>
                <a:gs pos="0">
                  <a:srgbClr val="852531">
                    <a:alpha val="100000"/>
                  </a:srgbClr>
                </a:gs>
                <a:gs pos="50000">
                  <a:srgbClr val="852531">
                    <a:alpha val="49500"/>
                  </a:srgbClr>
                </a:gs>
                <a:gs pos="100000">
                  <a:srgbClr val="85253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962339" cy="56591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4" id="14"/>
          <p:cNvSpPr/>
          <p:nvPr/>
        </p:nvSpPr>
        <p:spPr>
          <a:xfrm>
            <a:off x="1028700" y="1166139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5" id="15"/>
          <p:cNvGrpSpPr/>
          <p:nvPr/>
        </p:nvGrpSpPr>
        <p:grpSpPr>
          <a:xfrm rot="0">
            <a:off x="1028700" y="7774671"/>
            <a:ext cx="16230600" cy="2245577"/>
            <a:chOff x="0" y="0"/>
            <a:chExt cx="4274726" cy="59142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274726" cy="591428"/>
            </a:xfrm>
            <a:custGeom>
              <a:avLst/>
              <a:gdLst/>
              <a:ahLst/>
              <a:cxnLst/>
              <a:rect r="r" b="b" t="t" l="l"/>
              <a:pathLst>
                <a:path h="591428" w="4274726">
                  <a:moveTo>
                    <a:pt x="31482" y="0"/>
                  </a:moveTo>
                  <a:lnTo>
                    <a:pt x="4243244" y="0"/>
                  </a:lnTo>
                  <a:cubicBezTo>
                    <a:pt x="4260631" y="0"/>
                    <a:pt x="4274726" y="14095"/>
                    <a:pt x="4274726" y="31482"/>
                  </a:cubicBezTo>
                  <a:lnTo>
                    <a:pt x="4274726" y="559946"/>
                  </a:lnTo>
                  <a:cubicBezTo>
                    <a:pt x="4274726" y="568295"/>
                    <a:pt x="4271409" y="576303"/>
                    <a:pt x="4265505" y="582207"/>
                  </a:cubicBezTo>
                  <a:cubicBezTo>
                    <a:pt x="4259601" y="588111"/>
                    <a:pt x="4251594" y="591428"/>
                    <a:pt x="4243244" y="591428"/>
                  </a:cubicBezTo>
                  <a:lnTo>
                    <a:pt x="31482" y="591428"/>
                  </a:lnTo>
                  <a:cubicBezTo>
                    <a:pt x="14095" y="591428"/>
                    <a:pt x="0" y="577333"/>
                    <a:pt x="0" y="559946"/>
                  </a:cubicBezTo>
                  <a:lnTo>
                    <a:pt x="0" y="31482"/>
                  </a:lnTo>
                  <a:cubicBezTo>
                    <a:pt x="0" y="14095"/>
                    <a:pt x="14095" y="0"/>
                    <a:pt x="3148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8F8F8">
                    <a:alpha val="14500"/>
                  </a:srgbClr>
                </a:gs>
                <a:gs pos="50000">
                  <a:srgbClr val="F8F8F8">
                    <a:alpha val="7000"/>
                  </a:srgbClr>
                </a:gs>
                <a:gs pos="100000">
                  <a:srgbClr val="F8F8F8">
                    <a:alpha val="14500"/>
                  </a:srgbClr>
                </a:gs>
              </a:gsLst>
              <a:lin ang="0"/>
            </a:gra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4274726" cy="629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352543" y="3305107"/>
            <a:ext cx="7537897" cy="6179314"/>
            <a:chOff x="0" y="0"/>
            <a:chExt cx="1985290" cy="162747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985290" cy="1627474"/>
            </a:xfrm>
            <a:custGeom>
              <a:avLst/>
              <a:gdLst/>
              <a:ahLst/>
              <a:cxnLst/>
              <a:rect r="r" b="b" t="t" l="l"/>
              <a:pathLst>
                <a:path h="1627474" w="1985290">
                  <a:moveTo>
                    <a:pt x="67786" y="0"/>
                  </a:moveTo>
                  <a:lnTo>
                    <a:pt x="1917504" y="0"/>
                  </a:lnTo>
                  <a:cubicBezTo>
                    <a:pt x="1954941" y="0"/>
                    <a:pt x="1985290" y="30349"/>
                    <a:pt x="1985290" y="67786"/>
                  </a:cubicBezTo>
                  <a:lnTo>
                    <a:pt x="1985290" y="1559687"/>
                  </a:lnTo>
                  <a:cubicBezTo>
                    <a:pt x="1985290" y="1577665"/>
                    <a:pt x="1978148" y="1594907"/>
                    <a:pt x="1965436" y="1607619"/>
                  </a:cubicBezTo>
                  <a:cubicBezTo>
                    <a:pt x="1952723" y="1620332"/>
                    <a:pt x="1935481" y="1627474"/>
                    <a:pt x="1917504" y="1627474"/>
                  </a:cubicBezTo>
                  <a:lnTo>
                    <a:pt x="67786" y="1627474"/>
                  </a:lnTo>
                  <a:cubicBezTo>
                    <a:pt x="49808" y="1627474"/>
                    <a:pt x="32567" y="1620332"/>
                    <a:pt x="19854" y="1607619"/>
                  </a:cubicBezTo>
                  <a:cubicBezTo>
                    <a:pt x="7142" y="1594907"/>
                    <a:pt x="0" y="1577665"/>
                    <a:pt x="0" y="1559687"/>
                  </a:cubicBezTo>
                  <a:lnTo>
                    <a:pt x="0" y="67786"/>
                  </a:lnTo>
                  <a:cubicBezTo>
                    <a:pt x="0" y="49808"/>
                    <a:pt x="7142" y="32567"/>
                    <a:pt x="19854" y="19854"/>
                  </a:cubicBezTo>
                  <a:cubicBezTo>
                    <a:pt x="32567" y="7142"/>
                    <a:pt x="49808" y="0"/>
                    <a:pt x="6778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E1923">
                    <a:alpha val="100000"/>
                  </a:srgbClr>
                </a:gs>
                <a:gs pos="50000">
                  <a:srgbClr val="3E1923">
                    <a:alpha val="100000"/>
                  </a:srgbClr>
                </a:gs>
                <a:gs pos="100000">
                  <a:srgbClr val="19111B">
                    <a:alpha val="100000"/>
                  </a:srgbClr>
                </a:gs>
              </a:gsLst>
              <a:path path="circle">
                <a:fillToRect l="50000" r="50000" t="50000" b="50000"/>
              </a:path>
            </a:gra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985290" cy="16655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339838" y="3305107"/>
            <a:ext cx="7595620" cy="6179314"/>
            <a:chOff x="0" y="0"/>
            <a:chExt cx="2000492" cy="162747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000492" cy="1627474"/>
            </a:xfrm>
            <a:custGeom>
              <a:avLst/>
              <a:gdLst/>
              <a:ahLst/>
              <a:cxnLst/>
              <a:rect r="r" b="b" t="t" l="l"/>
              <a:pathLst>
                <a:path h="1627474" w="2000492">
                  <a:moveTo>
                    <a:pt x="67271" y="0"/>
                  </a:moveTo>
                  <a:lnTo>
                    <a:pt x="1933221" y="0"/>
                  </a:lnTo>
                  <a:cubicBezTo>
                    <a:pt x="1951063" y="0"/>
                    <a:pt x="1968173" y="7087"/>
                    <a:pt x="1980789" y="19703"/>
                  </a:cubicBezTo>
                  <a:cubicBezTo>
                    <a:pt x="1993405" y="32319"/>
                    <a:pt x="2000492" y="49430"/>
                    <a:pt x="2000492" y="67271"/>
                  </a:cubicBezTo>
                  <a:lnTo>
                    <a:pt x="2000492" y="1560202"/>
                  </a:lnTo>
                  <a:cubicBezTo>
                    <a:pt x="2000492" y="1578044"/>
                    <a:pt x="1993405" y="1595154"/>
                    <a:pt x="1980789" y="1607770"/>
                  </a:cubicBezTo>
                  <a:cubicBezTo>
                    <a:pt x="1968173" y="1620386"/>
                    <a:pt x="1951063" y="1627474"/>
                    <a:pt x="1933221" y="1627474"/>
                  </a:cubicBezTo>
                  <a:lnTo>
                    <a:pt x="67271" y="1627474"/>
                  </a:lnTo>
                  <a:cubicBezTo>
                    <a:pt x="49430" y="1627474"/>
                    <a:pt x="32319" y="1620386"/>
                    <a:pt x="19703" y="1607770"/>
                  </a:cubicBezTo>
                  <a:cubicBezTo>
                    <a:pt x="7087" y="1595154"/>
                    <a:pt x="0" y="1578044"/>
                    <a:pt x="0" y="1560202"/>
                  </a:cubicBezTo>
                  <a:lnTo>
                    <a:pt x="0" y="67271"/>
                  </a:lnTo>
                  <a:cubicBezTo>
                    <a:pt x="0" y="49430"/>
                    <a:pt x="7087" y="32319"/>
                    <a:pt x="19703" y="19703"/>
                  </a:cubicBezTo>
                  <a:cubicBezTo>
                    <a:pt x="32319" y="7087"/>
                    <a:pt x="49430" y="0"/>
                    <a:pt x="6727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E1923">
                    <a:alpha val="100000"/>
                  </a:srgbClr>
                </a:gs>
                <a:gs pos="50000">
                  <a:srgbClr val="3E1923">
                    <a:alpha val="100000"/>
                  </a:srgbClr>
                </a:gs>
                <a:gs pos="100000">
                  <a:srgbClr val="19111B">
                    <a:alpha val="100000"/>
                  </a:srgbClr>
                </a:gs>
              </a:gsLst>
              <a:path path="circle">
                <a:fillToRect l="50000" r="50000" t="50000" b="50000"/>
              </a:path>
            </a:gra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2000492" cy="16655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5159669" y="2273375"/>
            <a:ext cx="1065120" cy="907907"/>
            <a:chOff x="0" y="0"/>
            <a:chExt cx="705514" cy="6013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05514" cy="601380"/>
            </a:xfrm>
            <a:custGeom>
              <a:avLst/>
              <a:gdLst/>
              <a:ahLst/>
              <a:cxnLst/>
              <a:rect r="r" b="b" t="t" l="l"/>
              <a:pathLst>
                <a:path h="601380" w="705514">
                  <a:moveTo>
                    <a:pt x="167178" y="0"/>
                  </a:moveTo>
                  <a:lnTo>
                    <a:pt x="538337" y="0"/>
                  </a:lnTo>
                  <a:cubicBezTo>
                    <a:pt x="630666" y="0"/>
                    <a:pt x="705514" y="74848"/>
                    <a:pt x="705514" y="167178"/>
                  </a:cubicBezTo>
                  <a:lnTo>
                    <a:pt x="705514" y="434202"/>
                  </a:lnTo>
                  <a:cubicBezTo>
                    <a:pt x="705514" y="526532"/>
                    <a:pt x="630666" y="601380"/>
                    <a:pt x="538337" y="601380"/>
                  </a:cubicBezTo>
                  <a:lnTo>
                    <a:pt x="167178" y="601380"/>
                  </a:lnTo>
                  <a:cubicBezTo>
                    <a:pt x="74848" y="601380"/>
                    <a:pt x="0" y="526532"/>
                    <a:pt x="0" y="434202"/>
                  </a:cubicBezTo>
                  <a:lnTo>
                    <a:pt x="0" y="167178"/>
                  </a:lnTo>
                  <a:cubicBezTo>
                    <a:pt x="0" y="74848"/>
                    <a:pt x="74848" y="0"/>
                    <a:pt x="167178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7701" r="0" b="-17701"/>
              </a:stretch>
            </a:blipFill>
            <a:ln w="19050" cap="rnd">
              <a:solidFill>
                <a:srgbClr val="FFFFFF"/>
              </a:solidFill>
              <a:prstDash val="solid"/>
              <a:round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3949046" y="2273375"/>
            <a:ext cx="1065120" cy="907907"/>
            <a:chOff x="0" y="0"/>
            <a:chExt cx="705514" cy="6013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05514" cy="601380"/>
            </a:xfrm>
            <a:custGeom>
              <a:avLst/>
              <a:gdLst/>
              <a:ahLst/>
              <a:cxnLst/>
              <a:rect r="r" b="b" t="t" l="l"/>
              <a:pathLst>
                <a:path h="601380" w="705514">
                  <a:moveTo>
                    <a:pt x="167178" y="0"/>
                  </a:moveTo>
                  <a:lnTo>
                    <a:pt x="538337" y="0"/>
                  </a:lnTo>
                  <a:cubicBezTo>
                    <a:pt x="630666" y="0"/>
                    <a:pt x="705514" y="74848"/>
                    <a:pt x="705514" y="167178"/>
                  </a:cubicBezTo>
                  <a:lnTo>
                    <a:pt x="705514" y="434202"/>
                  </a:lnTo>
                  <a:cubicBezTo>
                    <a:pt x="705514" y="526532"/>
                    <a:pt x="630666" y="601380"/>
                    <a:pt x="538337" y="601380"/>
                  </a:cubicBezTo>
                  <a:lnTo>
                    <a:pt x="167178" y="601380"/>
                  </a:lnTo>
                  <a:cubicBezTo>
                    <a:pt x="74848" y="601380"/>
                    <a:pt x="0" y="526532"/>
                    <a:pt x="0" y="434202"/>
                  </a:cubicBezTo>
                  <a:lnTo>
                    <a:pt x="0" y="167178"/>
                  </a:lnTo>
                  <a:cubicBezTo>
                    <a:pt x="0" y="74848"/>
                    <a:pt x="74848" y="0"/>
                    <a:pt x="167178" y="0"/>
                  </a:cubicBezTo>
                  <a:close/>
                </a:path>
              </a:pathLst>
            </a:custGeom>
            <a:blipFill>
              <a:blip r:embed="rId3"/>
              <a:stretch>
                <a:fillRect l="-6895" t="0" r="-6895" b="0"/>
              </a:stretch>
            </a:blipFill>
            <a:ln w="19050" cap="rnd">
              <a:solidFill>
                <a:srgbClr val="FFFFFF"/>
              </a:solidFill>
              <a:prstDash val="solid"/>
              <a:round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15159669" y="1309014"/>
            <a:ext cx="1065120" cy="907907"/>
            <a:chOff x="0" y="0"/>
            <a:chExt cx="705514" cy="6013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05514" cy="601380"/>
            </a:xfrm>
            <a:custGeom>
              <a:avLst/>
              <a:gdLst/>
              <a:ahLst/>
              <a:cxnLst/>
              <a:rect r="r" b="b" t="t" l="l"/>
              <a:pathLst>
                <a:path h="601380" w="705514">
                  <a:moveTo>
                    <a:pt x="167178" y="0"/>
                  </a:moveTo>
                  <a:lnTo>
                    <a:pt x="538337" y="0"/>
                  </a:lnTo>
                  <a:cubicBezTo>
                    <a:pt x="630666" y="0"/>
                    <a:pt x="705514" y="74848"/>
                    <a:pt x="705514" y="167178"/>
                  </a:cubicBezTo>
                  <a:lnTo>
                    <a:pt x="705514" y="434202"/>
                  </a:lnTo>
                  <a:cubicBezTo>
                    <a:pt x="705514" y="526532"/>
                    <a:pt x="630666" y="601380"/>
                    <a:pt x="538337" y="601380"/>
                  </a:cubicBezTo>
                  <a:lnTo>
                    <a:pt x="167178" y="601380"/>
                  </a:lnTo>
                  <a:cubicBezTo>
                    <a:pt x="74848" y="601380"/>
                    <a:pt x="0" y="526532"/>
                    <a:pt x="0" y="434202"/>
                  </a:cubicBezTo>
                  <a:lnTo>
                    <a:pt x="0" y="167178"/>
                  </a:lnTo>
                  <a:cubicBezTo>
                    <a:pt x="0" y="74848"/>
                    <a:pt x="74848" y="0"/>
                    <a:pt x="167178" y="0"/>
                  </a:cubicBezTo>
                  <a:close/>
                </a:path>
              </a:pathLst>
            </a:custGeom>
            <a:blipFill>
              <a:blip r:embed="rId4"/>
              <a:stretch>
                <a:fillRect l="-5025" t="0" r="-5025" b="0"/>
              </a:stretch>
            </a:blipFill>
            <a:ln w="19050" cap="rnd">
              <a:solidFill>
                <a:srgbClr val="FFFFFF"/>
              </a:solidFill>
              <a:prstDash val="solid"/>
              <a:round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3949046" y="1309014"/>
            <a:ext cx="1065120" cy="907907"/>
            <a:chOff x="0" y="0"/>
            <a:chExt cx="705514" cy="60138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05514" cy="601380"/>
            </a:xfrm>
            <a:custGeom>
              <a:avLst/>
              <a:gdLst/>
              <a:ahLst/>
              <a:cxnLst/>
              <a:rect r="r" b="b" t="t" l="l"/>
              <a:pathLst>
                <a:path h="601380" w="705514">
                  <a:moveTo>
                    <a:pt x="167178" y="0"/>
                  </a:moveTo>
                  <a:lnTo>
                    <a:pt x="538337" y="0"/>
                  </a:lnTo>
                  <a:cubicBezTo>
                    <a:pt x="630666" y="0"/>
                    <a:pt x="705514" y="74848"/>
                    <a:pt x="705514" y="167178"/>
                  </a:cubicBezTo>
                  <a:lnTo>
                    <a:pt x="705514" y="434202"/>
                  </a:lnTo>
                  <a:cubicBezTo>
                    <a:pt x="705514" y="526532"/>
                    <a:pt x="630666" y="601380"/>
                    <a:pt x="538337" y="601380"/>
                  </a:cubicBezTo>
                  <a:lnTo>
                    <a:pt x="167178" y="601380"/>
                  </a:lnTo>
                  <a:cubicBezTo>
                    <a:pt x="74848" y="601380"/>
                    <a:pt x="0" y="526532"/>
                    <a:pt x="0" y="434202"/>
                  </a:cubicBezTo>
                  <a:lnTo>
                    <a:pt x="0" y="167178"/>
                  </a:lnTo>
                  <a:cubicBezTo>
                    <a:pt x="0" y="74848"/>
                    <a:pt x="74848" y="0"/>
                    <a:pt x="167178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8657" r="0" b="-8657"/>
              </a:stretch>
            </a:blipFill>
            <a:ln w="19050" cap="rnd">
              <a:solidFill>
                <a:srgbClr val="FFFFFF"/>
              </a:solidFill>
              <a:prstDash val="solid"/>
              <a:round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2767849" y="2301602"/>
            <a:ext cx="1065120" cy="907907"/>
            <a:chOff x="0" y="0"/>
            <a:chExt cx="705514" cy="6013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05514" cy="601380"/>
            </a:xfrm>
            <a:custGeom>
              <a:avLst/>
              <a:gdLst/>
              <a:ahLst/>
              <a:cxnLst/>
              <a:rect r="r" b="b" t="t" l="l"/>
              <a:pathLst>
                <a:path h="601380" w="705514">
                  <a:moveTo>
                    <a:pt x="167178" y="0"/>
                  </a:moveTo>
                  <a:lnTo>
                    <a:pt x="538337" y="0"/>
                  </a:lnTo>
                  <a:cubicBezTo>
                    <a:pt x="630666" y="0"/>
                    <a:pt x="705514" y="74848"/>
                    <a:pt x="705514" y="167178"/>
                  </a:cubicBezTo>
                  <a:lnTo>
                    <a:pt x="705514" y="434202"/>
                  </a:lnTo>
                  <a:cubicBezTo>
                    <a:pt x="705514" y="526532"/>
                    <a:pt x="630666" y="601380"/>
                    <a:pt x="538337" y="601380"/>
                  </a:cubicBezTo>
                  <a:lnTo>
                    <a:pt x="167178" y="601380"/>
                  </a:lnTo>
                  <a:cubicBezTo>
                    <a:pt x="74848" y="601380"/>
                    <a:pt x="0" y="526532"/>
                    <a:pt x="0" y="434202"/>
                  </a:cubicBezTo>
                  <a:lnTo>
                    <a:pt x="0" y="167178"/>
                  </a:lnTo>
                  <a:cubicBezTo>
                    <a:pt x="0" y="74848"/>
                    <a:pt x="74848" y="0"/>
                    <a:pt x="167178" y="0"/>
                  </a:cubicBezTo>
                  <a:close/>
                </a:path>
              </a:pathLst>
            </a:custGeom>
            <a:blipFill>
              <a:blip r:embed="rId6"/>
              <a:stretch>
                <a:fillRect l="0" t="-8657" r="0" b="-8657"/>
              </a:stretch>
            </a:blipFill>
            <a:ln w="19050" cap="rnd">
              <a:solidFill>
                <a:srgbClr val="FFFFFF"/>
              </a:solidFill>
              <a:prstDash val="solid"/>
              <a:round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557226" y="2301602"/>
            <a:ext cx="1065120" cy="907907"/>
            <a:chOff x="0" y="0"/>
            <a:chExt cx="705514" cy="6013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05514" cy="601380"/>
            </a:xfrm>
            <a:custGeom>
              <a:avLst/>
              <a:gdLst/>
              <a:ahLst/>
              <a:cxnLst/>
              <a:rect r="r" b="b" t="t" l="l"/>
              <a:pathLst>
                <a:path h="601380" w="705514">
                  <a:moveTo>
                    <a:pt x="167178" y="0"/>
                  </a:moveTo>
                  <a:lnTo>
                    <a:pt x="538337" y="0"/>
                  </a:lnTo>
                  <a:cubicBezTo>
                    <a:pt x="630666" y="0"/>
                    <a:pt x="705514" y="74848"/>
                    <a:pt x="705514" y="167178"/>
                  </a:cubicBezTo>
                  <a:lnTo>
                    <a:pt x="705514" y="434202"/>
                  </a:lnTo>
                  <a:cubicBezTo>
                    <a:pt x="705514" y="526532"/>
                    <a:pt x="630666" y="601380"/>
                    <a:pt x="538337" y="601380"/>
                  </a:cubicBezTo>
                  <a:lnTo>
                    <a:pt x="167178" y="601380"/>
                  </a:lnTo>
                  <a:cubicBezTo>
                    <a:pt x="74848" y="601380"/>
                    <a:pt x="0" y="526532"/>
                    <a:pt x="0" y="434202"/>
                  </a:cubicBezTo>
                  <a:lnTo>
                    <a:pt x="0" y="167178"/>
                  </a:lnTo>
                  <a:cubicBezTo>
                    <a:pt x="0" y="74848"/>
                    <a:pt x="74848" y="0"/>
                    <a:pt x="167178" y="0"/>
                  </a:cubicBezTo>
                  <a:close/>
                </a:path>
              </a:pathLst>
            </a:custGeom>
            <a:blipFill>
              <a:blip r:embed="rId7"/>
              <a:stretch>
                <a:fillRect l="0" t="-8657" r="0" b="-8657"/>
              </a:stretch>
            </a:blipFill>
            <a:ln w="19050" cap="rnd">
              <a:solidFill>
                <a:srgbClr val="FFFFFF"/>
              </a:solidFill>
              <a:prstDash val="solid"/>
              <a:round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2767849" y="1337242"/>
            <a:ext cx="1065120" cy="907907"/>
            <a:chOff x="0" y="0"/>
            <a:chExt cx="705514" cy="60138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05514" cy="601380"/>
            </a:xfrm>
            <a:custGeom>
              <a:avLst/>
              <a:gdLst/>
              <a:ahLst/>
              <a:cxnLst/>
              <a:rect r="r" b="b" t="t" l="l"/>
              <a:pathLst>
                <a:path h="601380" w="705514">
                  <a:moveTo>
                    <a:pt x="167178" y="0"/>
                  </a:moveTo>
                  <a:lnTo>
                    <a:pt x="538337" y="0"/>
                  </a:lnTo>
                  <a:cubicBezTo>
                    <a:pt x="630666" y="0"/>
                    <a:pt x="705514" y="74848"/>
                    <a:pt x="705514" y="167178"/>
                  </a:cubicBezTo>
                  <a:lnTo>
                    <a:pt x="705514" y="434202"/>
                  </a:lnTo>
                  <a:cubicBezTo>
                    <a:pt x="705514" y="526532"/>
                    <a:pt x="630666" y="601380"/>
                    <a:pt x="538337" y="601380"/>
                  </a:cubicBezTo>
                  <a:lnTo>
                    <a:pt x="167178" y="601380"/>
                  </a:lnTo>
                  <a:cubicBezTo>
                    <a:pt x="74848" y="601380"/>
                    <a:pt x="0" y="526532"/>
                    <a:pt x="0" y="434202"/>
                  </a:cubicBezTo>
                  <a:lnTo>
                    <a:pt x="0" y="167178"/>
                  </a:lnTo>
                  <a:cubicBezTo>
                    <a:pt x="0" y="74848"/>
                    <a:pt x="74848" y="0"/>
                    <a:pt x="167178" y="0"/>
                  </a:cubicBezTo>
                  <a:close/>
                </a:path>
              </a:pathLst>
            </a:custGeom>
            <a:blipFill>
              <a:blip r:embed="rId8"/>
              <a:stretch>
                <a:fillRect l="0" t="-8657" r="0" b="-8657"/>
              </a:stretch>
            </a:blipFill>
            <a:ln w="19050" cap="rnd">
              <a:solidFill>
                <a:srgbClr val="FFFFFF"/>
              </a:solidFill>
              <a:prstDash val="solid"/>
              <a:round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1557226" y="1337242"/>
            <a:ext cx="1065120" cy="907907"/>
            <a:chOff x="0" y="0"/>
            <a:chExt cx="705514" cy="60138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05514" cy="601380"/>
            </a:xfrm>
            <a:custGeom>
              <a:avLst/>
              <a:gdLst/>
              <a:ahLst/>
              <a:cxnLst/>
              <a:rect r="r" b="b" t="t" l="l"/>
              <a:pathLst>
                <a:path h="601380" w="705514">
                  <a:moveTo>
                    <a:pt x="167178" y="0"/>
                  </a:moveTo>
                  <a:lnTo>
                    <a:pt x="538337" y="0"/>
                  </a:lnTo>
                  <a:cubicBezTo>
                    <a:pt x="630666" y="0"/>
                    <a:pt x="705514" y="74848"/>
                    <a:pt x="705514" y="167178"/>
                  </a:cubicBezTo>
                  <a:lnTo>
                    <a:pt x="705514" y="434202"/>
                  </a:lnTo>
                  <a:cubicBezTo>
                    <a:pt x="705514" y="526532"/>
                    <a:pt x="630666" y="601380"/>
                    <a:pt x="538337" y="601380"/>
                  </a:cubicBezTo>
                  <a:lnTo>
                    <a:pt x="167178" y="601380"/>
                  </a:lnTo>
                  <a:cubicBezTo>
                    <a:pt x="74848" y="601380"/>
                    <a:pt x="0" y="526532"/>
                    <a:pt x="0" y="434202"/>
                  </a:cubicBezTo>
                  <a:lnTo>
                    <a:pt x="0" y="167178"/>
                  </a:lnTo>
                  <a:cubicBezTo>
                    <a:pt x="0" y="74848"/>
                    <a:pt x="74848" y="0"/>
                    <a:pt x="167178" y="0"/>
                  </a:cubicBezTo>
                  <a:close/>
                </a:path>
              </a:pathLst>
            </a:custGeom>
            <a:blipFill>
              <a:blip r:embed="rId9"/>
              <a:stretch>
                <a:fillRect l="0" t="-8657" r="0" b="-8657"/>
              </a:stretch>
            </a:blipFill>
            <a:ln w="19050" cap="rnd">
              <a:solidFill>
                <a:srgbClr val="FFFFFF"/>
              </a:solidFill>
              <a:prstDash val="solid"/>
              <a:round/>
            </a:ln>
          </p:spPr>
        </p:sp>
      </p:grpSp>
      <p:sp>
        <p:nvSpPr>
          <p:cNvPr name="TextBox 40" id="40"/>
          <p:cNvSpPr txBox="true"/>
          <p:nvPr/>
        </p:nvSpPr>
        <p:spPr>
          <a:xfrm rot="0">
            <a:off x="3454975" y="3714682"/>
            <a:ext cx="3333033" cy="434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80"/>
              </a:lnSpc>
            </a:pPr>
            <a:r>
              <a:rPr lang="en-US" b="true" sz="3644" spc="-218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Supabase &amp; SQL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3454975" y="6384287"/>
            <a:ext cx="3333033" cy="434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80"/>
              </a:lnSpc>
            </a:pPr>
            <a:r>
              <a:rPr lang="en-US" b="true" sz="3644" spc="-218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VS  &amp; Python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3454975" y="4339317"/>
            <a:ext cx="3333033" cy="354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19"/>
              </a:lnSpc>
            </a:pPr>
            <a:r>
              <a:rPr lang="en-US" sz="2799" spc="-167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Data Infrastructure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3300409" y="7008921"/>
            <a:ext cx="3683215" cy="354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19"/>
              </a:lnSpc>
            </a:pPr>
            <a:r>
              <a:rPr lang="en-US" sz="2799" spc="-167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Data Engineering &amp; Analysis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028700" y="665366"/>
            <a:ext cx="2571016" cy="363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3"/>
              </a:lnSpc>
            </a:pPr>
            <a:r>
              <a:rPr lang="en-US" sz="2195" spc="-11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Miranda Insights LLC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4697560" y="663042"/>
            <a:ext cx="2561740" cy="363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073"/>
              </a:lnSpc>
              <a:spcBef>
                <a:spcPct val="0"/>
              </a:spcBef>
            </a:pPr>
            <a:r>
              <a:rPr lang="en-US" sz="2195" spc="-11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March 2026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3681202" y="9465371"/>
            <a:ext cx="11332964" cy="438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b="true" sz="2599" i="true">
                <a:solidFill>
                  <a:srgbClr val="F6F4F3"/>
                </a:solidFill>
                <a:latin typeface="DM Sans Bold Italics"/>
                <a:ea typeface="DM Sans Bold Italics"/>
                <a:cs typeface="DM Sans Bold Italics"/>
                <a:sym typeface="DM Sans Bold Italics"/>
              </a:rPr>
              <a:t>“End-to-End Data Pipeline: From Raw Data to Decision-Ready Insights”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3842494" y="1817433"/>
            <a:ext cx="10095893" cy="148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841"/>
              </a:lnSpc>
            </a:pPr>
            <a:r>
              <a:rPr lang="en-US" sz="12046" spc="-722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Technical Stack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1471131" y="3714682"/>
            <a:ext cx="3333033" cy="434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80"/>
              </a:lnSpc>
            </a:pPr>
            <a:r>
              <a:rPr lang="en-US" b="true" sz="3644" spc="-218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Quarto &amp; R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1471131" y="6384287"/>
            <a:ext cx="3333033" cy="434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80"/>
              </a:lnSpc>
            </a:pPr>
            <a:r>
              <a:rPr lang="en-US" b="true" sz="3644" spc="-218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Excel &amp; Github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1471131" y="4339317"/>
            <a:ext cx="3333033" cy="354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19"/>
              </a:lnSpc>
            </a:pPr>
            <a:r>
              <a:rPr lang="en-US" sz="2799" spc="-167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Visualization &amp; Reporting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1374831" y="7008921"/>
            <a:ext cx="3525633" cy="354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19"/>
              </a:lnSpc>
            </a:pPr>
            <a:r>
              <a:rPr lang="en-US" sz="2799" spc="-167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Business To</a:t>
            </a:r>
            <a:r>
              <a:rPr lang="en-US" sz="2799" spc="-167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ols  &amp;  Delivery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2314208" y="4779372"/>
            <a:ext cx="5874230" cy="1323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Designed and managed a relational database using SQL, including schema creation, data validation, and row-level security policies for controlled access.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2314208" y="7448976"/>
            <a:ext cx="5874230" cy="1323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Bu</a:t>
            </a:r>
            <a:r>
              <a:rPr lang="en-US" sz="18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ilt a Python-based pipeline to extract data from Supabase APIs, transform datasets, and prepare them for analysis and export across multiple platforms.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0200532" y="4788897"/>
            <a:ext cx="5874230" cy="1323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Developed publication-quality visualizations and a fully self-contained HTML dashboard using R and Quarto, enabling professional and shareable reporting.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0200532" y="7448976"/>
            <a:ext cx="5874230" cy="989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Delivered insights through Excel dashboards with pivot tables and KPIs, while maintaining version control and project transparency via GitHub.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DAHFeEFNUvQ</dc:identifier>
  <dcterms:modified xsi:type="dcterms:W3CDTF">2011-08-01T06:04:30Z</dcterms:modified>
  <cp:revision>1</cp:revision>
  <dc:title>Student Dashboard Presentation</dc:title>
</cp:coreProperties>
</file>